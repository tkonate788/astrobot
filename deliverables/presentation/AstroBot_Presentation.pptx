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66" r:id="rId1"/>
    <p:sldMasterId id="2147483687" r:id="rId2"/>
    <p:sldMasterId id="2147483691" r:id="rId3"/>
  </p:sldMasterIdLst>
  <p:notesMasterIdLst>
    <p:notesMasterId r:id="rId36"/>
  </p:notesMasterIdLst>
  <p:handoutMasterIdLst>
    <p:handoutMasterId r:id="rId37"/>
  </p:handoutMasterIdLst>
  <p:sldIdLst>
    <p:sldId id="291" r:id="rId4"/>
    <p:sldId id="463" r:id="rId5"/>
    <p:sldId id="464" r:id="rId6"/>
    <p:sldId id="465" r:id="rId7"/>
    <p:sldId id="466" r:id="rId8"/>
    <p:sldId id="467" r:id="rId9"/>
    <p:sldId id="468" r:id="rId10"/>
    <p:sldId id="469" r:id="rId11"/>
    <p:sldId id="470" r:id="rId12"/>
    <p:sldId id="471" r:id="rId13"/>
    <p:sldId id="472" r:id="rId14"/>
    <p:sldId id="473" r:id="rId15"/>
    <p:sldId id="474" r:id="rId16"/>
    <p:sldId id="475" r:id="rId17"/>
    <p:sldId id="476" r:id="rId18"/>
    <p:sldId id="477" r:id="rId19"/>
    <p:sldId id="478" r:id="rId20"/>
    <p:sldId id="479" r:id="rId21"/>
    <p:sldId id="480" r:id="rId22"/>
    <p:sldId id="481" r:id="rId23"/>
    <p:sldId id="482" r:id="rId24"/>
    <p:sldId id="483" r:id="rId25"/>
    <p:sldId id="484" r:id="rId26"/>
    <p:sldId id="485" r:id="rId27"/>
    <p:sldId id="486" r:id="rId28"/>
    <p:sldId id="487" r:id="rId29"/>
    <p:sldId id="488" r:id="rId30"/>
    <p:sldId id="489" r:id="rId31"/>
    <p:sldId id="490" r:id="rId32"/>
    <p:sldId id="491" r:id="rId33"/>
    <p:sldId id="492" r:id="rId34"/>
    <p:sldId id="292" r:id="rId35"/>
  </p:sldIdLst>
  <p:sldSz cx="12192000" cy="6858000"/>
  <p:notesSz cx="6858000" cy="9144000"/>
  <p:embeddedFontLst>
    <p:embeddedFont>
      <p:font typeface="Consolas" panose="020B0609020204030204" pitchFamily="49" charset="0"/>
      <p:regular r:id="rId38"/>
      <p:bold r:id="rId39"/>
      <p:italic r:id="rId40"/>
      <p:boldItalic r:id="rId41"/>
    </p:embeddedFont>
    <p:embeddedFont>
      <p:font typeface="Gotham" panose="020B0604020202020204" charset="0"/>
      <p:regular r:id="rId42"/>
      <p:bold r:id="rId43"/>
      <p:italic r:id="rId44"/>
      <p:boldItalic r:id="rId45"/>
    </p:embeddedFont>
    <p:embeddedFont>
      <p:font typeface="Gotham Black" charset="0"/>
      <p:bold r:id="rId46"/>
      <p:italic r:id="rId47"/>
      <p:boldItalic r:id="rId48"/>
    </p:embeddedFont>
    <p:embeddedFont>
      <p:font typeface="Gotham Medium" charset="0"/>
      <p:regular r:id="rId49"/>
      <p:italic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284A"/>
    <a:srgbClr val="8E1438"/>
    <a:srgbClr val="706F6F"/>
    <a:srgbClr val="540E21"/>
    <a:srgbClr val="611027"/>
    <a:srgbClr val="665E5D"/>
    <a:srgbClr val="5B122C"/>
    <a:srgbClr val="EB3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Açık Sti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Açık Stil 2 - Vurgu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ema Uygulanmış Stil 2 - Vurgu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Açık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Orta Stil 4 - Vurgu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E3FDE45-AF77-4B5C-9715-49D594BDF05E}" styleName="Açık Stil 1 - Vurgu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Açık Stil 3 - Vurgu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Orta Stil 1 - Vurgu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229" autoAdjust="0"/>
  </p:normalViewPr>
  <p:slideViewPr>
    <p:cSldViewPr snapToGrid="0">
      <p:cViewPr varScale="1">
        <p:scale>
          <a:sx n="92" d="100"/>
          <a:sy n="92" d="100"/>
        </p:scale>
        <p:origin x="12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2.fntdata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7.fntdata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5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7.xml"/><Relationship Id="rId41" Type="http://schemas.openxmlformats.org/officeDocument/2006/relationships/font" Target="fonts/font4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A783D405-4D79-EDE1-0242-4E9184532F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B0A5FBE0-81B5-FBC4-E852-533E55976D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1CD55-5808-024F-8F5C-FCB474577668}" type="datetimeFigureOut">
              <a:rPr lang="tr-TR" smtClean="0"/>
              <a:t>20.05.2026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4C0361A-0861-1DAB-3D82-7D671EEDD0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84A020A-CE09-D0A0-BEB6-1516432D9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66F3F-7BEA-FA49-8B12-FF1821B5E70B}" type="slidenum">
              <a:rPr lang="tr-TR" smtClean="0"/>
              <a:t>‹N°›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59323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21FFF-3195-074F-904D-7ED030C367A6}" type="datetimeFigureOut">
              <a:rPr lang="tr-TR" smtClean="0"/>
              <a:t>20.05.2026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F55BB-BB46-7D41-AA21-4CCF1B9341CB}" type="slidenum">
              <a:rPr lang="tr-TR" smtClean="0"/>
              <a:t>‹N°›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96907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F55BB-BB46-7D41-AA21-4CCF1B9341CB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8432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F55BB-BB46-7D41-AA21-4CCF1B9341CB}" type="slidenum">
              <a:rPr lang="tr-TR" smtClean="0"/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2926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20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9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ölüm Ayrac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Yer Tutucusu 7">
            <a:extLst>
              <a:ext uri="{FF2B5EF4-FFF2-40B4-BE49-F238E27FC236}">
                <a16:creationId xmlns:a16="http://schemas.microsoft.com/office/drawing/2014/main" id="{EDD1975E-AC11-1C6D-FB33-D681B3ED36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38" b="11838"/>
          <a:stretch>
            <a:fillRect/>
          </a:stretch>
        </p:blipFill>
        <p:spPr>
          <a:xfrm>
            <a:off x="-1" y="-19119"/>
            <a:ext cx="12207765" cy="6987477"/>
          </a:xfrm>
          <a:prstGeom prst="rect">
            <a:avLst/>
          </a:prstGeom>
        </p:spPr>
      </p:pic>
      <p:sp>
        <p:nvSpPr>
          <p:cNvPr id="31" name="İçerik Yer Tutucusu 30">
            <a:extLst>
              <a:ext uri="{FF2B5EF4-FFF2-40B4-BE49-F238E27FC236}">
                <a16:creationId xmlns:a16="http://schemas.microsoft.com/office/drawing/2014/main" id="{F97F149F-910D-10ED-A6D6-6EAE71B97A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-2" y="-19119"/>
            <a:ext cx="12207765" cy="6987477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tr-TR"/>
          </a:p>
        </p:txBody>
      </p:sp>
      <p:sp>
        <p:nvSpPr>
          <p:cNvPr id="29" name="Metin Yer Tutucusu 28">
            <a:extLst>
              <a:ext uri="{FF2B5EF4-FFF2-40B4-BE49-F238E27FC236}">
                <a16:creationId xmlns:a16="http://schemas.microsoft.com/office/drawing/2014/main" id="{8F179AFF-35FC-6583-5095-86D25140DB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099" y="200416"/>
            <a:ext cx="1747173" cy="63256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endParaRPr lang="tr-TR"/>
          </a:p>
        </p:txBody>
      </p:sp>
      <p:sp>
        <p:nvSpPr>
          <p:cNvPr id="33" name="Metin Yer Tutucusu 32">
            <a:extLst>
              <a:ext uri="{FF2B5EF4-FFF2-40B4-BE49-F238E27FC236}">
                <a16:creationId xmlns:a16="http://schemas.microsoft.com/office/drawing/2014/main" id="{8C7B99FD-D656-DDEF-E242-19EF269223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100" y="2360751"/>
            <a:ext cx="4409434" cy="37211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0" b="1" i="0">
                <a:solidFill>
                  <a:schemeClr val="bg1"/>
                </a:solidFill>
                <a:latin typeface="Gotham Black" pitchFamily="2" charset="0"/>
                <a:cs typeface="Gotham Black" pitchFamily="2" charset="0"/>
              </a:defRPr>
            </a:lvl1pPr>
          </a:lstStyle>
          <a:p>
            <a:pPr lvl="0"/>
            <a:r>
              <a:rPr lang="tr-TR"/>
              <a:t>GEÇİŞ SLAYTI</a:t>
            </a:r>
          </a:p>
        </p:txBody>
      </p:sp>
    </p:spTree>
    <p:extLst>
      <p:ext uri="{BB962C8B-B14F-4D97-AF65-F5344CB8AC3E}">
        <p14:creationId xmlns:p14="http://schemas.microsoft.com/office/powerpoint/2010/main" val="1906103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964C204-A660-4605-AFCE-418BEC0F8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79315F5A-07F9-3ABE-700D-A4893B3652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02421" y="2015067"/>
            <a:ext cx="6987157" cy="252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9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rgulu Slay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A0485305-5E29-ED90-9207-44252B7BF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4" name="Metin Yer Tutucusu 9">
            <a:extLst>
              <a:ext uri="{FF2B5EF4-FFF2-40B4-BE49-F238E27FC236}">
                <a16:creationId xmlns:a16="http://schemas.microsoft.com/office/drawing/2014/main" id="{1C4D1B8D-7DCF-562D-1195-011A8F2800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chemeClr val="bg1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5" name="Metin Yer Tutucusu 13">
            <a:extLst>
              <a:ext uri="{FF2B5EF4-FFF2-40B4-BE49-F238E27FC236}">
                <a16:creationId xmlns:a16="http://schemas.microsoft.com/office/drawing/2014/main" id="{787151A7-9615-FBE3-0434-75EC166EC7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00" y="2345981"/>
            <a:ext cx="11497733" cy="367050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 </a:t>
            </a:r>
            <a:r>
              <a:rPr lang="tr-TR" err="1"/>
              <a:t>iaculis</a:t>
            </a:r>
            <a:r>
              <a:rPr lang="tr-TR"/>
              <a:t>. </a:t>
            </a:r>
            <a:r>
              <a:rPr lang="tr-TR" err="1"/>
              <a:t>Mauris</a:t>
            </a:r>
            <a:r>
              <a:rPr lang="tr-TR"/>
              <a:t>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laoreet</a:t>
            </a:r>
            <a:r>
              <a:rPr lang="tr-TR"/>
              <a:t> </a:t>
            </a:r>
            <a:r>
              <a:rPr lang="tr-TR" err="1"/>
              <a:t>tellus</a:t>
            </a:r>
            <a:r>
              <a:rPr lang="tr-TR"/>
              <a:t>, </a:t>
            </a:r>
            <a:r>
              <a:rPr lang="tr-TR" err="1"/>
              <a:t>ac</a:t>
            </a:r>
            <a:r>
              <a:rPr lang="tr-TR"/>
              <a:t> </a:t>
            </a:r>
            <a:r>
              <a:rPr lang="tr-TR" err="1"/>
              <a:t>efficitur</a:t>
            </a:r>
            <a:r>
              <a:rPr lang="tr-TR"/>
              <a:t> </a:t>
            </a:r>
            <a:r>
              <a:rPr lang="tr-TR" err="1"/>
              <a:t>risus</a:t>
            </a:r>
            <a:r>
              <a:rPr lang="tr-TR"/>
              <a:t> </a:t>
            </a:r>
            <a:r>
              <a:rPr lang="tr-TR" err="1"/>
              <a:t>molestie</a:t>
            </a:r>
            <a:r>
              <a:rPr lang="tr-TR"/>
              <a:t> in. </a:t>
            </a:r>
            <a:r>
              <a:rPr lang="tr-TR" err="1"/>
              <a:t>Proin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facilisis</a:t>
            </a:r>
            <a:r>
              <a:rPr lang="tr-TR"/>
              <a:t> </a:t>
            </a:r>
            <a:r>
              <a:rPr lang="tr-TR" err="1"/>
              <a:t>aliquam</a:t>
            </a:r>
            <a:r>
              <a:rPr lang="tr-TR"/>
              <a:t>. </a:t>
            </a:r>
            <a:r>
              <a:rPr lang="tr-TR" err="1"/>
              <a:t>Suspendisse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sapien</a:t>
            </a:r>
            <a:r>
              <a:rPr lang="tr-TR"/>
              <a:t>. </a:t>
            </a:r>
            <a:r>
              <a:rPr lang="tr-TR" err="1"/>
              <a:t>Donec</a:t>
            </a:r>
            <a:r>
              <a:rPr lang="tr-TR"/>
              <a:t>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augue</a:t>
            </a:r>
            <a:r>
              <a:rPr lang="tr-TR"/>
              <a:t> </a:t>
            </a:r>
            <a:r>
              <a:rPr lang="tr-TR" err="1"/>
              <a:t>quis</a:t>
            </a:r>
            <a:r>
              <a:rPr lang="tr-TR"/>
              <a:t> </a:t>
            </a:r>
            <a:r>
              <a:rPr lang="tr-TR" err="1"/>
              <a:t>velit</a:t>
            </a:r>
            <a:r>
              <a:rPr lang="tr-TR"/>
              <a:t> </a:t>
            </a:r>
            <a:r>
              <a:rPr lang="tr-TR" err="1"/>
              <a:t>porttitor</a:t>
            </a:r>
            <a:r>
              <a:rPr lang="tr-TR"/>
              <a:t> </a:t>
            </a:r>
            <a:r>
              <a:rPr lang="tr-TR" err="1"/>
              <a:t>varius</a:t>
            </a:r>
            <a:r>
              <a:rPr lang="tr-TR"/>
              <a:t> </a:t>
            </a:r>
            <a:r>
              <a:rPr lang="tr-TR" err="1"/>
              <a:t>nec</a:t>
            </a:r>
            <a:r>
              <a:rPr lang="tr-TR"/>
              <a:t> a </a:t>
            </a:r>
            <a:r>
              <a:rPr lang="tr-TR" err="1"/>
              <a:t>mauris</a:t>
            </a:r>
            <a:r>
              <a:rPr lang="tr-TR"/>
              <a:t>. </a:t>
            </a:r>
            <a:r>
              <a:rPr lang="tr-TR" err="1"/>
              <a:t>Sed</a:t>
            </a:r>
            <a:r>
              <a:rPr lang="tr-TR"/>
              <a:t> </a:t>
            </a:r>
            <a:r>
              <a:rPr lang="tr-TR" err="1"/>
              <a:t>turpis</a:t>
            </a:r>
            <a:r>
              <a:rPr lang="tr-TR"/>
              <a:t> </a:t>
            </a:r>
            <a:r>
              <a:rPr lang="tr-TR" err="1"/>
              <a:t>magna</a:t>
            </a:r>
            <a:r>
              <a:rPr lang="tr-TR"/>
              <a:t>, </a:t>
            </a:r>
            <a:r>
              <a:rPr lang="tr-TR" err="1"/>
              <a:t>lacinia</a:t>
            </a:r>
            <a:r>
              <a:rPr lang="tr-TR"/>
              <a:t> </a:t>
            </a:r>
            <a:r>
              <a:rPr lang="tr-TR" err="1"/>
              <a:t>non</a:t>
            </a:r>
            <a:r>
              <a:rPr lang="tr-TR"/>
              <a:t> </a:t>
            </a:r>
            <a:r>
              <a:rPr lang="tr-TR" err="1"/>
              <a:t>euismod</a:t>
            </a:r>
            <a:r>
              <a:rPr lang="tr-TR"/>
              <a:t> et, </a:t>
            </a:r>
            <a:r>
              <a:rPr lang="tr-TR" err="1"/>
              <a:t>semper</a:t>
            </a:r>
            <a:r>
              <a:rPr lang="tr-TR"/>
              <a:t> </a:t>
            </a:r>
            <a:r>
              <a:rPr lang="tr-TR" err="1"/>
              <a:t>eget</a:t>
            </a:r>
            <a:r>
              <a:rPr lang="tr-TR"/>
              <a:t> </a:t>
            </a:r>
            <a:r>
              <a:rPr lang="tr-TR" err="1"/>
              <a:t>dui</a:t>
            </a:r>
            <a:r>
              <a:rPr lang="tr-TR"/>
              <a:t>. </a:t>
            </a:r>
            <a:r>
              <a:rPr lang="tr-TR" err="1"/>
              <a:t>Donec</a:t>
            </a:r>
            <a:r>
              <a:rPr lang="tr-TR"/>
              <a:t> ut </a:t>
            </a:r>
            <a:r>
              <a:rPr lang="tr-TR" err="1"/>
              <a:t>orci</a:t>
            </a:r>
            <a:r>
              <a:rPr lang="tr-TR"/>
              <a:t> ut </a:t>
            </a:r>
            <a:r>
              <a:rPr lang="tr-TR" err="1"/>
              <a:t>lectus</a:t>
            </a:r>
            <a:r>
              <a:rPr lang="tr-TR"/>
              <a:t> </a:t>
            </a:r>
            <a:r>
              <a:rPr lang="tr-TR" err="1"/>
              <a:t>dictum</a:t>
            </a:r>
            <a:r>
              <a:rPr lang="tr-TR"/>
              <a:t> </a:t>
            </a:r>
            <a:r>
              <a:rPr lang="tr-TR" err="1"/>
              <a:t>mattis</a:t>
            </a:r>
            <a:r>
              <a:rPr lang="tr-TR"/>
              <a:t> </a:t>
            </a:r>
            <a:r>
              <a:rPr lang="tr-TR" err="1"/>
              <a:t>eu</a:t>
            </a:r>
            <a:r>
              <a:rPr lang="tr-TR"/>
              <a:t> </a:t>
            </a:r>
            <a:r>
              <a:rPr lang="tr-TR" err="1"/>
              <a:t>eu</a:t>
            </a:r>
            <a:r>
              <a:rPr lang="tr-TR"/>
              <a:t> </a:t>
            </a:r>
            <a:r>
              <a:rPr lang="tr-TR" err="1"/>
              <a:t>odio</a:t>
            </a:r>
            <a:r>
              <a:rPr lang="tr-TR"/>
              <a:t>.</a:t>
            </a:r>
          </a:p>
          <a:p>
            <a:pPr lvl="0"/>
            <a:endParaRPr lang="tr-TR"/>
          </a:p>
        </p:txBody>
      </p:sp>
      <p:sp>
        <p:nvSpPr>
          <p:cNvPr id="6" name="Metin Yer Tutucusu 13">
            <a:extLst>
              <a:ext uri="{FF2B5EF4-FFF2-40B4-BE49-F238E27FC236}">
                <a16:creationId xmlns:a16="http://schemas.microsoft.com/office/drawing/2014/main" id="{75B794FD-DFDE-098A-FEED-B968956A79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4799" y="1515561"/>
            <a:ext cx="11497733" cy="544665"/>
          </a:xfrm>
          <a:prstGeom prst="rect">
            <a:avLst/>
          </a:prstGeom>
        </p:spPr>
        <p:txBody>
          <a:bodyPr anchor="ctr"/>
          <a:lstStyle>
            <a:lvl1pPr marL="0" indent="0">
              <a:buFont typeface="+mj-lt"/>
              <a:buNone/>
              <a:defRPr sz="2400" b="0" i="0">
                <a:solidFill>
                  <a:schemeClr val="bg1"/>
                </a:solidFill>
                <a:latin typeface="Gotham Medium" pitchFamily="2" charset="0"/>
                <a:cs typeface="Gotham Mediu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Alt Başlık</a:t>
            </a:r>
          </a:p>
        </p:txBody>
      </p:sp>
    </p:spTree>
    <p:extLst>
      <p:ext uri="{BB962C8B-B14F-4D97-AF65-F5344CB8AC3E}">
        <p14:creationId xmlns:p14="http://schemas.microsoft.com/office/powerpoint/2010/main" val="822622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zel Dü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Yuvarlatılmış Dikdörtgen 11">
            <a:extLst>
              <a:ext uri="{FF2B5EF4-FFF2-40B4-BE49-F238E27FC236}">
                <a16:creationId xmlns:a16="http://schemas.microsoft.com/office/drawing/2014/main" id="{08767FA4-04F2-539E-432A-66E525CFD8BD}"/>
              </a:ext>
            </a:extLst>
          </p:cNvPr>
          <p:cNvSpPr/>
          <p:nvPr userDrawn="1"/>
        </p:nvSpPr>
        <p:spPr>
          <a:xfrm>
            <a:off x="3883793" y="7270749"/>
            <a:ext cx="4269607" cy="36512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BFCFB7-F288-D560-413C-F89CEEE05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614052"/>
            <a:ext cx="10515600" cy="580272"/>
          </a:xfrm>
          <a:prstGeom prst="rect">
            <a:avLst/>
          </a:prstGeom>
        </p:spPr>
        <p:txBody>
          <a:bodyPr/>
          <a:lstStyle>
            <a:lvl1pPr algn="ctr">
              <a:defRPr sz="3200" b="1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r>
              <a:rPr lang="tr-TR"/>
              <a:t>Pazarlama ve Reklamcılık Bölümü</a:t>
            </a:r>
          </a:p>
        </p:txBody>
      </p:sp>
      <p:sp>
        <p:nvSpPr>
          <p:cNvPr id="13" name="Yuvarlatılmış Dikdörtgen 12">
            <a:extLst>
              <a:ext uri="{FF2B5EF4-FFF2-40B4-BE49-F238E27FC236}">
                <a16:creationId xmlns:a16="http://schemas.microsoft.com/office/drawing/2014/main" id="{293EDA2E-A0C1-B6AC-7548-0A8B793A88D0}"/>
              </a:ext>
            </a:extLst>
          </p:cNvPr>
          <p:cNvSpPr/>
          <p:nvPr userDrawn="1"/>
        </p:nvSpPr>
        <p:spPr>
          <a:xfrm>
            <a:off x="8610599" y="7270749"/>
            <a:ext cx="2743200" cy="36512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Metin Yer Tutucusu 28">
            <a:extLst>
              <a:ext uri="{FF2B5EF4-FFF2-40B4-BE49-F238E27FC236}">
                <a16:creationId xmlns:a16="http://schemas.microsoft.com/office/drawing/2014/main" id="{61CBAAD8-8753-3493-D3A9-9C0C208A7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71960" y="453834"/>
            <a:ext cx="2648080" cy="95874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endParaRPr lang="tr-TR"/>
          </a:p>
        </p:txBody>
      </p:sp>
      <p:sp>
        <p:nvSpPr>
          <p:cNvPr id="11" name="Yuvarlatılmış Dikdörtgen 10">
            <a:extLst>
              <a:ext uri="{FF2B5EF4-FFF2-40B4-BE49-F238E27FC236}">
                <a16:creationId xmlns:a16="http://schemas.microsoft.com/office/drawing/2014/main" id="{98A983C5-B902-73AD-256A-53D38498DCD0}"/>
              </a:ext>
            </a:extLst>
          </p:cNvPr>
          <p:cNvSpPr/>
          <p:nvPr userDrawn="1"/>
        </p:nvSpPr>
        <p:spPr>
          <a:xfrm>
            <a:off x="1665170" y="7270749"/>
            <a:ext cx="1049153" cy="36512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Metin Yer Tutucusu 15">
            <a:extLst>
              <a:ext uri="{FF2B5EF4-FFF2-40B4-BE49-F238E27FC236}">
                <a16:creationId xmlns:a16="http://schemas.microsoft.com/office/drawing/2014/main" id="{313DBE77-CE8F-0959-34B1-6CC0BF954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5288" y="7270750"/>
            <a:ext cx="1049337" cy="3651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fld id="{7F0BD594-13FD-0342-83FD-7687A326888C}" type="datetimeFigureOut">
              <a:rPr lang="tr-TR" smtClean="0"/>
              <a:pPr/>
              <a:t>5.11.2024</a:t>
            </a:fld>
            <a:endParaRPr lang="tr-TR"/>
          </a:p>
        </p:txBody>
      </p:sp>
      <p:sp>
        <p:nvSpPr>
          <p:cNvPr id="17" name="Metin Yer Tutucusu 15">
            <a:extLst>
              <a:ext uri="{FF2B5EF4-FFF2-40B4-BE49-F238E27FC236}">
                <a16:creationId xmlns:a16="http://schemas.microsoft.com/office/drawing/2014/main" id="{65C0423F-46CB-269F-4BFF-B9B7EAB7D0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83491" y="7270750"/>
            <a:ext cx="4269607" cy="3651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Doç. Dr. Doğuş YÜKSEL</a:t>
            </a:r>
          </a:p>
        </p:txBody>
      </p:sp>
      <p:sp>
        <p:nvSpPr>
          <p:cNvPr id="18" name="Metin Yer Tutucusu 15">
            <a:extLst>
              <a:ext uri="{FF2B5EF4-FFF2-40B4-BE49-F238E27FC236}">
                <a16:creationId xmlns:a16="http://schemas.microsoft.com/office/drawing/2014/main" id="{BB4F378F-1EE2-B0E4-DFBD-71433904A0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10599" y="7270750"/>
            <a:ext cx="2743200" cy="3651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r>
              <a:rPr lang="tr-TR"/>
              <a:t>Yer: OSTİM Teknik Üniversitesi</a:t>
            </a:r>
          </a:p>
        </p:txBody>
      </p:sp>
      <p:sp>
        <p:nvSpPr>
          <p:cNvPr id="22" name="Metin Yer Tutucusu 21">
            <a:extLst>
              <a:ext uri="{FF2B5EF4-FFF2-40B4-BE49-F238E27FC236}">
                <a16:creationId xmlns:a16="http://schemas.microsoft.com/office/drawing/2014/main" id="{D227C6CB-B293-473A-8A19-18FDFA2ACD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2194324"/>
            <a:ext cx="10515600" cy="7762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2024-2025 Güz Dönemi Akademik Değerlendirme Sunumu</a:t>
            </a:r>
          </a:p>
        </p:txBody>
      </p:sp>
    </p:spTree>
    <p:extLst>
      <p:ext uri="{BB962C8B-B14F-4D97-AF65-F5344CB8AC3E}">
        <p14:creationId xmlns:p14="http://schemas.microsoft.com/office/powerpoint/2010/main" val="112594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Özel Dü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61F148A1-8F29-F88C-AC2B-D0D55F2006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84" y="0"/>
            <a:ext cx="12180232" cy="6858000"/>
          </a:xfrm>
          <a:prstGeom prst="rect">
            <a:avLst/>
          </a:prstGeom>
        </p:spPr>
      </p:pic>
      <p:sp>
        <p:nvSpPr>
          <p:cNvPr id="12" name="Yuvarlatılmış Dikdörtgen 11">
            <a:extLst>
              <a:ext uri="{FF2B5EF4-FFF2-40B4-BE49-F238E27FC236}">
                <a16:creationId xmlns:a16="http://schemas.microsoft.com/office/drawing/2014/main" id="{08767FA4-04F2-539E-432A-66E525CFD8BD}"/>
              </a:ext>
            </a:extLst>
          </p:cNvPr>
          <p:cNvSpPr/>
          <p:nvPr userDrawn="1"/>
        </p:nvSpPr>
        <p:spPr>
          <a:xfrm>
            <a:off x="3883793" y="7270749"/>
            <a:ext cx="4269607" cy="36512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BFCFB7-F288-D560-413C-F89CEEE05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05492"/>
            <a:ext cx="10515600" cy="580272"/>
          </a:xfrm>
          <a:prstGeom prst="rect">
            <a:avLst/>
          </a:prstGeom>
        </p:spPr>
        <p:txBody>
          <a:bodyPr/>
          <a:lstStyle>
            <a:lvl1pPr algn="ctr">
              <a:defRPr sz="3200" b="1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r>
              <a:rPr lang="tr-TR"/>
              <a:t>Dinlediğiniz için Teşekkürler!</a:t>
            </a:r>
          </a:p>
        </p:txBody>
      </p:sp>
      <p:sp>
        <p:nvSpPr>
          <p:cNvPr id="13" name="Yuvarlatılmış Dikdörtgen 12">
            <a:extLst>
              <a:ext uri="{FF2B5EF4-FFF2-40B4-BE49-F238E27FC236}">
                <a16:creationId xmlns:a16="http://schemas.microsoft.com/office/drawing/2014/main" id="{293EDA2E-A0C1-B6AC-7548-0A8B793A88D0}"/>
              </a:ext>
            </a:extLst>
          </p:cNvPr>
          <p:cNvSpPr/>
          <p:nvPr userDrawn="1"/>
        </p:nvSpPr>
        <p:spPr>
          <a:xfrm>
            <a:off x="8610599" y="7270749"/>
            <a:ext cx="2743200" cy="36512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Metin Yer Tutucusu 28">
            <a:extLst>
              <a:ext uri="{FF2B5EF4-FFF2-40B4-BE49-F238E27FC236}">
                <a16:creationId xmlns:a16="http://schemas.microsoft.com/office/drawing/2014/main" id="{61CBAAD8-8753-3493-D3A9-9C0C208A7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71960" y="453834"/>
            <a:ext cx="2648080" cy="95874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endParaRPr lang="tr-TR"/>
          </a:p>
        </p:txBody>
      </p:sp>
      <p:sp>
        <p:nvSpPr>
          <p:cNvPr id="11" name="Yuvarlatılmış Dikdörtgen 10">
            <a:extLst>
              <a:ext uri="{FF2B5EF4-FFF2-40B4-BE49-F238E27FC236}">
                <a16:creationId xmlns:a16="http://schemas.microsoft.com/office/drawing/2014/main" id="{98A983C5-B902-73AD-256A-53D38498DCD0}"/>
              </a:ext>
            </a:extLst>
          </p:cNvPr>
          <p:cNvSpPr/>
          <p:nvPr userDrawn="1"/>
        </p:nvSpPr>
        <p:spPr>
          <a:xfrm>
            <a:off x="1665170" y="7270749"/>
            <a:ext cx="1049153" cy="36512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Metin Yer Tutucusu 15">
            <a:extLst>
              <a:ext uri="{FF2B5EF4-FFF2-40B4-BE49-F238E27FC236}">
                <a16:creationId xmlns:a16="http://schemas.microsoft.com/office/drawing/2014/main" id="{313DBE77-CE8F-0959-34B1-6CC0BF954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5288" y="7270750"/>
            <a:ext cx="1049337" cy="3651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fld id="{7F0BD594-13FD-0342-83FD-7687A326888C}" type="datetimeFigureOut">
              <a:rPr lang="tr-TR" smtClean="0"/>
              <a:pPr/>
              <a:t>5.11.2024</a:t>
            </a:fld>
            <a:endParaRPr lang="tr-TR"/>
          </a:p>
        </p:txBody>
      </p:sp>
      <p:sp>
        <p:nvSpPr>
          <p:cNvPr id="17" name="Metin Yer Tutucusu 15">
            <a:extLst>
              <a:ext uri="{FF2B5EF4-FFF2-40B4-BE49-F238E27FC236}">
                <a16:creationId xmlns:a16="http://schemas.microsoft.com/office/drawing/2014/main" id="{65C0423F-46CB-269F-4BFF-B9B7EAB7D0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83491" y="7270750"/>
            <a:ext cx="4269607" cy="3651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Doç. Dr. Doğuş YÜKSEL</a:t>
            </a:r>
          </a:p>
        </p:txBody>
      </p:sp>
      <p:sp>
        <p:nvSpPr>
          <p:cNvPr id="18" name="Metin Yer Tutucusu 15">
            <a:extLst>
              <a:ext uri="{FF2B5EF4-FFF2-40B4-BE49-F238E27FC236}">
                <a16:creationId xmlns:a16="http://schemas.microsoft.com/office/drawing/2014/main" id="{BB4F378F-1EE2-B0E4-DFBD-71433904A0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10599" y="7270750"/>
            <a:ext cx="2743200" cy="3651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r>
              <a:rPr lang="tr-TR"/>
              <a:t>Yer: OSTİM Teknik Üniversitesi</a:t>
            </a:r>
          </a:p>
        </p:txBody>
      </p:sp>
      <p:sp>
        <p:nvSpPr>
          <p:cNvPr id="22" name="Metin Yer Tutucusu 21">
            <a:extLst>
              <a:ext uri="{FF2B5EF4-FFF2-40B4-BE49-F238E27FC236}">
                <a16:creationId xmlns:a16="http://schemas.microsoft.com/office/drawing/2014/main" id="{D227C6CB-B293-473A-8A19-18FDFA2ACD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2410652"/>
            <a:ext cx="10515600" cy="3862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Doç. Dr. Doğuş Yüksel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D66D7588-EEBF-6BE2-0680-3D48F1181B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2827349"/>
            <a:ext cx="10515600" cy="5254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Pazarlama ve Reklamcılık Bölüm Başkanı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91634E46-6436-3CB8-40A1-1047FD12C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78" y="4621448"/>
            <a:ext cx="1411768" cy="1705492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9C8C98D2-1B4D-58B9-AC24-A1322B2E7202}"/>
              </a:ext>
            </a:extLst>
          </p:cNvPr>
          <p:cNvSpPr txBox="1"/>
          <p:nvPr userDrawn="1"/>
        </p:nvSpPr>
        <p:spPr>
          <a:xfrm>
            <a:off x="1215286" y="4774381"/>
            <a:ext cx="1350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err="1">
                <a:solidFill>
                  <a:schemeClr val="bg1"/>
                </a:solidFill>
                <a:latin typeface="Gotham" pitchFamily="2" charset="0"/>
                <a:cs typeface="Gotham" pitchFamily="2" charset="0"/>
              </a:rPr>
              <a:t>ostimteknik</a:t>
            </a:r>
            <a:r>
              <a:rPr lang="tr-TR" sz="1000" b="1" err="1">
                <a:solidFill>
                  <a:schemeClr val="bg1"/>
                </a:solidFill>
                <a:latin typeface="Gotham" pitchFamily="2" charset="0"/>
                <a:cs typeface="Gotham" pitchFamily="2" charset="0"/>
              </a:rPr>
              <a:t>.edu.tr</a:t>
            </a:r>
            <a:endParaRPr lang="tr-TR" sz="1000" b="1">
              <a:solidFill>
                <a:schemeClr val="bg1"/>
              </a:solidFill>
              <a:latin typeface="Gotham" pitchFamily="2" charset="0"/>
              <a:cs typeface="Gotham" pitchFamily="2" charset="0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C2647AB1-D363-5170-7BA8-0BFEF2002C34}"/>
              </a:ext>
            </a:extLst>
          </p:cNvPr>
          <p:cNvSpPr txBox="1"/>
          <p:nvPr userDrawn="1"/>
        </p:nvSpPr>
        <p:spPr>
          <a:xfrm>
            <a:off x="1215286" y="5152508"/>
            <a:ext cx="30364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u="none" kern="1200">
                <a:solidFill>
                  <a:schemeClr val="bg1"/>
                </a:solidFill>
                <a:latin typeface="Gotham" pitchFamily="2" charset="0"/>
                <a:ea typeface="+mn-ea"/>
                <a:cs typeface="Gotham" pitchFamily="2" charset="0"/>
              </a:rPr>
              <a:t>Ostim, 100. Yıl Blv 55/F, Yenimahalle/Ankara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EE7CE4ED-06E9-721A-AB22-265A71C61C4A}"/>
              </a:ext>
            </a:extLst>
          </p:cNvPr>
          <p:cNvSpPr txBox="1"/>
          <p:nvPr userDrawn="1"/>
        </p:nvSpPr>
        <p:spPr>
          <a:xfrm>
            <a:off x="1215286" y="5523104"/>
            <a:ext cx="12458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b="0" i="0" u="none">
                <a:solidFill>
                  <a:schemeClr val="bg1"/>
                </a:solidFill>
                <a:effectLst/>
                <a:latin typeface="Gotham" pitchFamily="2" charset="0"/>
                <a:cs typeface="Gotham" pitchFamily="2" charset="0"/>
              </a:rPr>
              <a:t>(0312) 386 10 92</a:t>
            </a:r>
            <a:endParaRPr lang="tr-TR" sz="1000" b="1" u="none">
              <a:solidFill>
                <a:schemeClr val="bg1"/>
              </a:solidFill>
              <a:latin typeface="Gotham" pitchFamily="2" charset="0"/>
              <a:cs typeface="Gotham" pitchFamily="2" charset="0"/>
            </a:endParaRP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DC6F8102-783C-29A9-72E8-8C31AF03133B}"/>
              </a:ext>
            </a:extLst>
          </p:cNvPr>
          <p:cNvSpPr txBox="1"/>
          <p:nvPr userDrawn="1"/>
        </p:nvSpPr>
        <p:spPr>
          <a:xfrm>
            <a:off x="1838213" y="5893700"/>
            <a:ext cx="12570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b="0" i="0" u="none">
                <a:solidFill>
                  <a:schemeClr val="bg1"/>
                </a:solidFill>
                <a:effectLst/>
                <a:latin typeface="Gotham" pitchFamily="2" charset="0"/>
                <a:cs typeface="Gotham" pitchFamily="2" charset="0"/>
              </a:rPr>
              <a:t>/</a:t>
            </a:r>
            <a:r>
              <a:rPr lang="tr-TR" sz="1000" b="0" i="0" u="none" err="1">
                <a:solidFill>
                  <a:schemeClr val="bg1"/>
                </a:solidFill>
                <a:effectLst/>
                <a:latin typeface="Gotham" pitchFamily="2" charset="0"/>
                <a:cs typeface="Gotham" pitchFamily="2" charset="0"/>
              </a:rPr>
              <a:t>ostimteknikuniv</a:t>
            </a:r>
            <a:endParaRPr lang="tr-TR" sz="1000" b="1" u="none">
              <a:solidFill>
                <a:schemeClr val="bg1"/>
              </a:solidFill>
              <a:latin typeface="Gotham" pitchFamily="2" charset="0"/>
              <a:cs typeface="Gotha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406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çindeki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İçindekiler</a:t>
            </a:r>
          </a:p>
        </p:txBody>
      </p:sp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9623" y="5736495"/>
            <a:ext cx="5922061" cy="633171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Sunum Süresi: 15dk</a:t>
            </a:r>
          </a:p>
        </p:txBody>
      </p:sp>
      <p:sp>
        <p:nvSpPr>
          <p:cNvPr id="10" name="Metin Yer Tutucusu 10">
            <a:extLst>
              <a:ext uri="{FF2B5EF4-FFF2-40B4-BE49-F238E27FC236}">
                <a16:creationId xmlns:a16="http://schemas.microsoft.com/office/drawing/2014/main" id="{96E062D1-A33E-E8E8-5F36-F213AEAED9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39747" y="2331048"/>
            <a:ext cx="6551937" cy="2195903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400" b="1">
                <a:latin typeface="Gotham" pitchFamily="2" charset="0"/>
                <a:cs typeface="Gotham" pitchFamily="2" charset="0"/>
              </a:defRPr>
            </a:lvl1pPr>
            <a:lvl2pPr>
              <a:defRPr>
                <a:latin typeface="Gotham" pitchFamily="2" charset="0"/>
                <a:cs typeface="Gotham" pitchFamily="2" charset="0"/>
              </a:defRPr>
            </a:lvl2pPr>
            <a:lvl3pPr>
              <a:defRPr>
                <a:latin typeface="Gotham" pitchFamily="2" charset="0"/>
                <a:cs typeface="Gotham" pitchFamily="2" charset="0"/>
              </a:defRPr>
            </a:lvl3pPr>
            <a:lvl4pPr>
              <a:defRPr>
                <a:latin typeface="Gotham" pitchFamily="2" charset="0"/>
                <a:cs typeface="Gotham" pitchFamily="2" charset="0"/>
              </a:defRPr>
            </a:lvl4pPr>
            <a:lvl5pPr>
              <a:defRPr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  <a:p>
            <a:pPr lvl="0"/>
            <a:r>
              <a:rPr lang="tr-TR"/>
              <a:t>Başlık</a:t>
            </a:r>
          </a:p>
          <a:p>
            <a:pPr lvl="0"/>
            <a:r>
              <a:rPr lang="tr-TR"/>
              <a:t>Başlık</a:t>
            </a:r>
          </a:p>
          <a:p>
            <a:pPr lvl="0"/>
            <a:r>
              <a:rPr lang="tr-TR"/>
              <a:t>Başlık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FD5E52BA-3A4C-BB2F-8871-DEE742852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9747" y="5736495"/>
            <a:ext cx="526971" cy="45169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CA84AB89-3755-0829-045F-6EBD7905A9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91222" y="1274304"/>
            <a:ext cx="5922061" cy="650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157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Tek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3044501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813741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9" name="Metin Yer Tutucusu 13">
            <a:extLst>
              <a:ext uri="{FF2B5EF4-FFF2-40B4-BE49-F238E27FC236}">
                <a16:creationId xmlns:a16="http://schemas.microsoft.com/office/drawing/2014/main" id="{FD2F515C-642E-E2F3-C88D-5B6DC07E7C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25874" y="4782494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20" name="Metin Yer Tutucusu 13">
            <a:extLst>
              <a:ext uri="{FF2B5EF4-FFF2-40B4-BE49-F238E27FC236}">
                <a16:creationId xmlns:a16="http://schemas.microsoft.com/office/drawing/2014/main" id="{4E12A361-7786-773C-AF30-0F46816118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25872" y="5320510"/>
            <a:ext cx="3133934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3632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Çift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3044501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711986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9" name="Metin Yer Tutucusu 13">
            <a:extLst>
              <a:ext uri="{FF2B5EF4-FFF2-40B4-BE49-F238E27FC236}">
                <a16:creationId xmlns:a16="http://schemas.microsoft.com/office/drawing/2014/main" id="{FD2F515C-642E-E2F3-C88D-5B6DC07E7C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24119" y="4782494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20" name="Metin Yer Tutucusu 13">
            <a:extLst>
              <a:ext uri="{FF2B5EF4-FFF2-40B4-BE49-F238E27FC236}">
                <a16:creationId xmlns:a16="http://schemas.microsoft.com/office/drawing/2014/main" id="{4E12A361-7786-773C-AF30-0F46816118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24117" y="5320510"/>
            <a:ext cx="3133934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21" name="Picture Placeholder 44">
            <a:extLst>
              <a:ext uri="{FF2B5EF4-FFF2-40B4-BE49-F238E27FC236}">
                <a16:creationId xmlns:a16="http://schemas.microsoft.com/office/drawing/2014/main" id="{FFBE23F2-D210-B5CC-4475-FDD2F60D616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23977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2" name="Metin Yer Tutucusu 13">
            <a:extLst>
              <a:ext uri="{FF2B5EF4-FFF2-40B4-BE49-F238E27FC236}">
                <a16:creationId xmlns:a16="http://schemas.microsoft.com/office/drawing/2014/main" id="{E53CB2A4-0FC5-AB75-067D-5123F8FBB5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10" y="4782494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23" name="Metin Yer Tutucusu 13">
            <a:extLst>
              <a:ext uri="{FF2B5EF4-FFF2-40B4-BE49-F238E27FC236}">
                <a16:creationId xmlns:a16="http://schemas.microsoft.com/office/drawing/2014/main" id="{D87A81E7-E1F8-0AE3-B3F5-C600A17E67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36108" y="5320510"/>
            <a:ext cx="3133934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02142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3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3044501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301AEC7F-A649-E68C-55AD-156704CCB3F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8068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8" name="Metin Yer Tutucusu 13">
            <a:extLst>
              <a:ext uri="{FF2B5EF4-FFF2-40B4-BE49-F238E27FC236}">
                <a16:creationId xmlns:a16="http://schemas.microsoft.com/office/drawing/2014/main" id="{16F919E7-702F-77CD-8125-D416EA3EB4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201" y="4782494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4B56D21C-4DC5-13F4-15A6-0703F3A311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0199" y="5320510"/>
            <a:ext cx="3133934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813741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9" name="Metin Yer Tutucusu 13">
            <a:extLst>
              <a:ext uri="{FF2B5EF4-FFF2-40B4-BE49-F238E27FC236}">
                <a16:creationId xmlns:a16="http://schemas.microsoft.com/office/drawing/2014/main" id="{FD2F515C-642E-E2F3-C88D-5B6DC07E7C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25874" y="4782494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20" name="Metin Yer Tutucusu 13">
            <a:extLst>
              <a:ext uri="{FF2B5EF4-FFF2-40B4-BE49-F238E27FC236}">
                <a16:creationId xmlns:a16="http://schemas.microsoft.com/office/drawing/2014/main" id="{4E12A361-7786-773C-AF30-0F46816118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25872" y="5320510"/>
            <a:ext cx="3133934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21" name="Picture Placeholder 44">
            <a:extLst>
              <a:ext uri="{FF2B5EF4-FFF2-40B4-BE49-F238E27FC236}">
                <a16:creationId xmlns:a16="http://schemas.microsoft.com/office/drawing/2014/main" id="{FFBE23F2-D210-B5CC-4475-FDD2F60D616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25732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2" name="Metin Yer Tutucusu 13">
            <a:extLst>
              <a:ext uri="{FF2B5EF4-FFF2-40B4-BE49-F238E27FC236}">
                <a16:creationId xmlns:a16="http://schemas.microsoft.com/office/drawing/2014/main" id="{E53CB2A4-0FC5-AB75-067D-5123F8FBB5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37865" y="4782494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23" name="Metin Yer Tutucusu 13">
            <a:extLst>
              <a:ext uri="{FF2B5EF4-FFF2-40B4-BE49-F238E27FC236}">
                <a16:creationId xmlns:a16="http://schemas.microsoft.com/office/drawing/2014/main" id="{D87A81E7-E1F8-0AE3-B3F5-C600A17E67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37863" y="5320510"/>
            <a:ext cx="3133934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6020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4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3044501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301AEC7F-A649-E68C-55AD-156704CCB3F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8439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8" name="Metin Yer Tutucusu 13">
            <a:extLst>
              <a:ext uri="{FF2B5EF4-FFF2-40B4-BE49-F238E27FC236}">
                <a16:creationId xmlns:a16="http://schemas.microsoft.com/office/drawing/2014/main" id="{16F919E7-702F-77CD-8125-D416EA3EB4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7857" y="4782494"/>
            <a:ext cx="1985680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4B56D21C-4DC5-13F4-15A6-0703F3A311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7857" y="5320510"/>
            <a:ext cx="1985680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75229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1" name="Picture Placeholder 44">
            <a:extLst>
              <a:ext uri="{FF2B5EF4-FFF2-40B4-BE49-F238E27FC236}">
                <a16:creationId xmlns:a16="http://schemas.microsoft.com/office/drawing/2014/main" id="{FFBE23F2-D210-B5CC-4475-FDD2F60D616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92019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" name="Picture Placeholder 44">
            <a:extLst>
              <a:ext uri="{FF2B5EF4-FFF2-40B4-BE49-F238E27FC236}">
                <a16:creationId xmlns:a16="http://schemas.microsoft.com/office/drawing/2014/main" id="{A3787D92-F361-AD10-4414-5A8C73FC900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208809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3" name="Metin Yer Tutucusu 13">
            <a:extLst>
              <a:ext uri="{FF2B5EF4-FFF2-40B4-BE49-F238E27FC236}">
                <a16:creationId xmlns:a16="http://schemas.microsoft.com/office/drawing/2014/main" id="{003AD0D6-FE99-59D9-D836-95279FA6792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64647" y="4782494"/>
            <a:ext cx="1985680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" name="Metin Yer Tutucusu 13">
            <a:extLst>
              <a:ext uri="{FF2B5EF4-FFF2-40B4-BE49-F238E27FC236}">
                <a16:creationId xmlns:a16="http://schemas.microsoft.com/office/drawing/2014/main" id="{59C9F207-BF1C-FA39-F5C5-2DB7B2CC4E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64647" y="5320510"/>
            <a:ext cx="1985680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" name="Metin Yer Tutucusu 13">
            <a:extLst>
              <a:ext uri="{FF2B5EF4-FFF2-40B4-BE49-F238E27FC236}">
                <a16:creationId xmlns:a16="http://schemas.microsoft.com/office/drawing/2014/main" id="{E5E45443-2BAC-C4A0-32D2-CF11561C51A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1437" y="4782494"/>
            <a:ext cx="1985680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1" name="Metin Yer Tutucusu 13">
            <a:extLst>
              <a:ext uri="{FF2B5EF4-FFF2-40B4-BE49-F238E27FC236}">
                <a16:creationId xmlns:a16="http://schemas.microsoft.com/office/drawing/2014/main" id="{B2B42739-A1B1-F527-D2F9-5672C6006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81437" y="5320510"/>
            <a:ext cx="1985680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15" name="Metin Yer Tutucusu 13">
            <a:extLst>
              <a:ext uri="{FF2B5EF4-FFF2-40B4-BE49-F238E27FC236}">
                <a16:creationId xmlns:a16="http://schemas.microsoft.com/office/drawing/2014/main" id="{ADC9F1F7-6266-4B1F-B1B2-D7BDDBF9F80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98227" y="4782494"/>
            <a:ext cx="1985680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6" name="Metin Yer Tutucusu 13">
            <a:extLst>
              <a:ext uri="{FF2B5EF4-FFF2-40B4-BE49-F238E27FC236}">
                <a16:creationId xmlns:a16="http://schemas.microsoft.com/office/drawing/2014/main" id="{94F2BF2C-1F02-3210-79F9-7E03CE87C59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98227" y="5320510"/>
            <a:ext cx="1985680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66122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5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3044501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301AEC7F-A649-E68C-55AD-156704CCB3F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958444" y="2075209"/>
            <a:ext cx="1897252" cy="189826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8" name="Metin Yer Tutucusu 13">
            <a:extLst>
              <a:ext uri="{FF2B5EF4-FFF2-40B4-BE49-F238E27FC236}">
                <a16:creationId xmlns:a16="http://schemas.microsoft.com/office/drawing/2014/main" id="{16F919E7-702F-77CD-8125-D416EA3EB4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471" y="4535782"/>
            <a:ext cx="1897252" cy="32487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4B56D21C-4DC5-13F4-15A6-0703F3A311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00469" y="5183225"/>
            <a:ext cx="1897255" cy="63601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49355" y="2075209"/>
            <a:ext cx="1897252" cy="189826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1" name="Picture Placeholder 44">
            <a:extLst>
              <a:ext uri="{FF2B5EF4-FFF2-40B4-BE49-F238E27FC236}">
                <a16:creationId xmlns:a16="http://schemas.microsoft.com/office/drawing/2014/main" id="{FFBE23F2-D210-B5CC-4475-FDD2F60D616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340266" y="2075209"/>
            <a:ext cx="1897252" cy="189826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" name="Picture Placeholder 44">
            <a:extLst>
              <a:ext uri="{FF2B5EF4-FFF2-40B4-BE49-F238E27FC236}">
                <a16:creationId xmlns:a16="http://schemas.microsoft.com/office/drawing/2014/main" id="{A3787D92-F361-AD10-4414-5A8C73FC900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526938" y="2075209"/>
            <a:ext cx="1897252" cy="189826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3" name="Metin Yer Tutucusu 13">
            <a:extLst>
              <a:ext uri="{FF2B5EF4-FFF2-40B4-BE49-F238E27FC236}">
                <a16:creationId xmlns:a16="http://schemas.microsoft.com/office/drawing/2014/main" id="{003AD0D6-FE99-59D9-D836-95279FA6792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68426" y="4535782"/>
            <a:ext cx="1897252" cy="32487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" name="Metin Yer Tutucusu 13">
            <a:extLst>
              <a:ext uri="{FF2B5EF4-FFF2-40B4-BE49-F238E27FC236}">
                <a16:creationId xmlns:a16="http://schemas.microsoft.com/office/drawing/2014/main" id="{59C9F207-BF1C-FA39-F5C5-2DB7B2CC4E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68424" y="5183225"/>
            <a:ext cx="1897255" cy="63601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" name="Metin Yer Tutucusu 13">
            <a:extLst>
              <a:ext uri="{FF2B5EF4-FFF2-40B4-BE49-F238E27FC236}">
                <a16:creationId xmlns:a16="http://schemas.microsoft.com/office/drawing/2014/main" id="{E5E45443-2BAC-C4A0-32D2-CF11561C51A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48451" y="4535782"/>
            <a:ext cx="1897252" cy="32487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1" name="Metin Yer Tutucusu 13">
            <a:extLst>
              <a:ext uri="{FF2B5EF4-FFF2-40B4-BE49-F238E27FC236}">
                <a16:creationId xmlns:a16="http://schemas.microsoft.com/office/drawing/2014/main" id="{B2B42739-A1B1-F527-D2F9-5672C6006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48449" y="5183225"/>
            <a:ext cx="1897255" cy="63601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15" name="Metin Yer Tutucusu 13">
            <a:extLst>
              <a:ext uri="{FF2B5EF4-FFF2-40B4-BE49-F238E27FC236}">
                <a16:creationId xmlns:a16="http://schemas.microsoft.com/office/drawing/2014/main" id="{ADC9F1F7-6266-4B1F-B1B2-D7BDDBF9F80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78667" y="4535782"/>
            <a:ext cx="1897252" cy="32487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6" name="Metin Yer Tutucusu 13">
            <a:extLst>
              <a:ext uri="{FF2B5EF4-FFF2-40B4-BE49-F238E27FC236}">
                <a16:creationId xmlns:a16="http://schemas.microsoft.com/office/drawing/2014/main" id="{94F2BF2C-1F02-3210-79F9-7E03CE87C59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78665" y="5183225"/>
            <a:ext cx="1897255" cy="63601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12" name="Picture Placeholder 44">
            <a:extLst>
              <a:ext uri="{FF2B5EF4-FFF2-40B4-BE49-F238E27FC236}">
                <a16:creationId xmlns:a16="http://schemas.microsoft.com/office/drawing/2014/main" id="{391B8223-BE1C-D80C-9791-00A8B8C4DFE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63884" y="2075209"/>
            <a:ext cx="1897252" cy="189826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3" name="Metin Yer Tutucusu 13">
            <a:extLst>
              <a:ext uri="{FF2B5EF4-FFF2-40B4-BE49-F238E27FC236}">
                <a16:creationId xmlns:a16="http://schemas.microsoft.com/office/drawing/2014/main" id="{302EA739-56F1-53F6-11BA-F999EDC53C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40595" y="4535782"/>
            <a:ext cx="1897252" cy="32487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F347CD30-616D-D9D3-5296-6C8CFCCD998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0593" y="5183225"/>
            <a:ext cx="1897255" cy="63601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4944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6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4273546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301AEC7F-A649-E68C-55AD-156704CCB3F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09492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098400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2" name="Picture Placeholder 44">
            <a:extLst>
              <a:ext uri="{FF2B5EF4-FFF2-40B4-BE49-F238E27FC236}">
                <a16:creationId xmlns:a16="http://schemas.microsoft.com/office/drawing/2014/main" id="{391B8223-BE1C-D80C-9791-00A8B8C4DFE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398718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3" name="Metin Yer Tutucusu 13">
            <a:extLst>
              <a:ext uri="{FF2B5EF4-FFF2-40B4-BE49-F238E27FC236}">
                <a16:creationId xmlns:a16="http://schemas.microsoft.com/office/drawing/2014/main" id="{302EA739-56F1-53F6-11BA-F999EDC53C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4067" y="2775610"/>
            <a:ext cx="250201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F347CD30-616D-D9D3-5296-6C8CFCCD998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4063" y="3206863"/>
            <a:ext cx="2502021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4FD0C78E-9FA6-0D06-12F2-04CB8443E011}"/>
              </a:ext>
            </a:extLst>
          </p:cNvPr>
          <p:cNvSpPr/>
          <p:nvPr userDrawn="1"/>
        </p:nvSpPr>
        <p:spPr>
          <a:xfrm rot="5400000">
            <a:off x="5480680" y="-1380717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27" name="Picture Placeholder 44">
            <a:extLst>
              <a:ext uri="{FF2B5EF4-FFF2-40B4-BE49-F238E27FC236}">
                <a16:creationId xmlns:a16="http://schemas.microsoft.com/office/drawing/2014/main" id="{0B1647F4-C84A-A392-4E40-CBF8897B95A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398718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8" name="Picture Placeholder 44">
            <a:extLst>
              <a:ext uri="{FF2B5EF4-FFF2-40B4-BE49-F238E27FC236}">
                <a16:creationId xmlns:a16="http://schemas.microsoft.com/office/drawing/2014/main" id="{A077C2DD-185A-4308-297C-B0B3D2EE41F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109492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9" name="Picture Placeholder 44">
            <a:extLst>
              <a:ext uri="{FF2B5EF4-FFF2-40B4-BE49-F238E27FC236}">
                <a16:creationId xmlns:a16="http://schemas.microsoft.com/office/drawing/2014/main" id="{3E4E9636-B96E-A1F6-2F4B-2C790610C2C8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098400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3" name="Metin Yer Tutucusu 13">
            <a:extLst>
              <a:ext uri="{FF2B5EF4-FFF2-40B4-BE49-F238E27FC236}">
                <a16:creationId xmlns:a16="http://schemas.microsoft.com/office/drawing/2014/main" id="{78643D1B-8EED-0186-9602-FCDCB94693F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15209" y="2775610"/>
            <a:ext cx="250201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25" name="Metin Yer Tutucusu 13">
            <a:extLst>
              <a:ext uri="{FF2B5EF4-FFF2-40B4-BE49-F238E27FC236}">
                <a16:creationId xmlns:a16="http://schemas.microsoft.com/office/drawing/2014/main" id="{514A1DA9-9C46-14BC-58DB-6673CC03251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715205" y="3206863"/>
            <a:ext cx="2502021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26" name="Metin Yer Tutucusu 13">
            <a:extLst>
              <a:ext uri="{FF2B5EF4-FFF2-40B4-BE49-F238E27FC236}">
                <a16:creationId xmlns:a16="http://schemas.microsoft.com/office/drawing/2014/main" id="{7C5D2025-3167-49F2-A8F6-44F239B2629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721152" y="2775610"/>
            <a:ext cx="250201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36" name="Metin Yer Tutucusu 13">
            <a:extLst>
              <a:ext uri="{FF2B5EF4-FFF2-40B4-BE49-F238E27FC236}">
                <a16:creationId xmlns:a16="http://schemas.microsoft.com/office/drawing/2014/main" id="{68668A47-4BEA-378F-5958-5E863734E5D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721148" y="3206863"/>
            <a:ext cx="2502021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37" name="Metin Yer Tutucusu 13">
            <a:extLst>
              <a:ext uri="{FF2B5EF4-FFF2-40B4-BE49-F238E27FC236}">
                <a16:creationId xmlns:a16="http://schemas.microsoft.com/office/drawing/2014/main" id="{5D4ED89B-DBB0-DF7C-88E5-882FC84AC8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03181" y="5671211"/>
            <a:ext cx="250201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38" name="Metin Yer Tutucusu 13">
            <a:extLst>
              <a:ext uri="{FF2B5EF4-FFF2-40B4-BE49-F238E27FC236}">
                <a16:creationId xmlns:a16="http://schemas.microsoft.com/office/drawing/2014/main" id="{AE077111-F517-9631-40E8-663F4976965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3177" y="6102464"/>
            <a:ext cx="2502021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39" name="Metin Yer Tutucusu 13">
            <a:extLst>
              <a:ext uri="{FF2B5EF4-FFF2-40B4-BE49-F238E27FC236}">
                <a16:creationId xmlns:a16="http://schemas.microsoft.com/office/drawing/2014/main" id="{98E8302F-6D83-4CED-71A2-3BF78A5E065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704323" y="5671211"/>
            <a:ext cx="250201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0" name="Metin Yer Tutucusu 13">
            <a:extLst>
              <a:ext uri="{FF2B5EF4-FFF2-40B4-BE49-F238E27FC236}">
                <a16:creationId xmlns:a16="http://schemas.microsoft.com/office/drawing/2014/main" id="{DFD8670F-C3F6-2F15-2702-B6EE2637B07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04319" y="6102464"/>
            <a:ext cx="2502021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41" name="Metin Yer Tutucusu 13">
            <a:extLst>
              <a:ext uri="{FF2B5EF4-FFF2-40B4-BE49-F238E27FC236}">
                <a16:creationId xmlns:a16="http://schemas.microsoft.com/office/drawing/2014/main" id="{FBCACA09-06E3-6A5B-A13C-F5262EB8B69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710266" y="5671211"/>
            <a:ext cx="250201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2" name="Metin Yer Tutucusu 13">
            <a:extLst>
              <a:ext uri="{FF2B5EF4-FFF2-40B4-BE49-F238E27FC236}">
                <a16:creationId xmlns:a16="http://schemas.microsoft.com/office/drawing/2014/main" id="{5C5794A9-25A5-8532-6150-EFF1505E2D3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710262" y="6102464"/>
            <a:ext cx="2502021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4041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8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4273546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301AEC7F-A649-E68C-55AD-156704CCB3F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29720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625937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1" name="Picture Placeholder 44">
            <a:extLst>
              <a:ext uri="{FF2B5EF4-FFF2-40B4-BE49-F238E27FC236}">
                <a16:creationId xmlns:a16="http://schemas.microsoft.com/office/drawing/2014/main" id="{FFBE23F2-D210-B5CC-4475-FDD2F60D616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322154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2" name="Picture Placeholder 44">
            <a:extLst>
              <a:ext uri="{FF2B5EF4-FFF2-40B4-BE49-F238E27FC236}">
                <a16:creationId xmlns:a16="http://schemas.microsoft.com/office/drawing/2014/main" id="{391B8223-BE1C-D80C-9791-00A8B8C4DFE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172232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3" name="Metin Yer Tutucusu 13">
            <a:extLst>
              <a:ext uri="{FF2B5EF4-FFF2-40B4-BE49-F238E27FC236}">
                <a16:creationId xmlns:a16="http://schemas.microsoft.com/office/drawing/2014/main" id="{302EA739-56F1-53F6-11BA-F999EDC53C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6171" y="2775610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F347CD30-616D-D9D3-5296-6C8CFCCD998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6165" y="3206863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4FD0C78E-9FA6-0D06-12F2-04CB8443E011}"/>
              </a:ext>
            </a:extLst>
          </p:cNvPr>
          <p:cNvSpPr/>
          <p:nvPr userDrawn="1"/>
        </p:nvSpPr>
        <p:spPr>
          <a:xfrm rot="5400000">
            <a:off x="5480680" y="-1380717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23" name="Picture Placeholder 44">
            <a:extLst>
              <a:ext uri="{FF2B5EF4-FFF2-40B4-BE49-F238E27FC236}">
                <a16:creationId xmlns:a16="http://schemas.microsoft.com/office/drawing/2014/main" id="{C4BD7FC9-9054-32AC-F80C-263BD70DB72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96493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7" name="Picture Placeholder 44">
            <a:extLst>
              <a:ext uri="{FF2B5EF4-FFF2-40B4-BE49-F238E27FC236}">
                <a16:creationId xmlns:a16="http://schemas.microsoft.com/office/drawing/2014/main" id="{0B1647F4-C84A-A392-4E40-CBF8897B95A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47929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8" name="Picture Placeholder 44">
            <a:extLst>
              <a:ext uri="{FF2B5EF4-FFF2-40B4-BE49-F238E27FC236}">
                <a16:creationId xmlns:a16="http://schemas.microsoft.com/office/drawing/2014/main" id="{A077C2DD-185A-4308-297C-B0B3D2EE41F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550198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9" name="Picture Placeholder 44">
            <a:extLst>
              <a:ext uri="{FF2B5EF4-FFF2-40B4-BE49-F238E27FC236}">
                <a16:creationId xmlns:a16="http://schemas.microsoft.com/office/drawing/2014/main" id="{3E4E9636-B96E-A1F6-2F4B-2C790610C2C8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246415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36" name="Metin Yer Tutucusu 13">
            <a:extLst>
              <a:ext uri="{FF2B5EF4-FFF2-40B4-BE49-F238E27FC236}">
                <a16:creationId xmlns:a16="http://schemas.microsoft.com/office/drawing/2014/main" id="{918342F1-2F9D-6B72-2BAC-81D43D5A24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12026" y="2775610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37" name="Metin Yer Tutucusu 13">
            <a:extLst>
              <a:ext uri="{FF2B5EF4-FFF2-40B4-BE49-F238E27FC236}">
                <a16:creationId xmlns:a16="http://schemas.microsoft.com/office/drawing/2014/main" id="{D023ACF8-542F-4EF5-9005-A06A2BCFED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712020" y="3206863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40" name="Metin Yer Tutucusu 13">
            <a:extLst>
              <a:ext uri="{FF2B5EF4-FFF2-40B4-BE49-F238E27FC236}">
                <a16:creationId xmlns:a16="http://schemas.microsoft.com/office/drawing/2014/main" id="{17C62D40-21C0-0F29-5F2C-3A4337D2B6C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411685" y="2775610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1" name="Metin Yer Tutucusu 13">
            <a:extLst>
              <a:ext uri="{FF2B5EF4-FFF2-40B4-BE49-F238E27FC236}">
                <a16:creationId xmlns:a16="http://schemas.microsoft.com/office/drawing/2014/main" id="{FA264373-1F4E-E75E-9E5C-34031D5CB08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11679" y="3206863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42" name="Metin Yer Tutucusu 13">
            <a:extLst>
              <a:ext uri="{FF2B5EF4-FFF2-40B4-BE49-F238E27FC236}">
                <a16:creationId xmlns:a16="http://schemas.microsoft.com/office/drawing/2014/main" id="{2947BFE0-08C6-571E-4521-595728C2F51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78680" y="2775610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3" name="Metin Yer Tutucusu 13">
            <a:extLst>
              <a:ext uri="{FF2B5EF4-FFF2-40B4-BE49-F238E27FC236}">
                <a16:creationId xmlns:a16="http://schemas.microsoft.com/office/drawing/2014/main" id="{1DCF26D5-C511-8AB4-EE4F-4C1BBAFCA0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78674" y="3206863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44" name="Metin Yer Tutucusu 13">
            <a:extLst>
              <a:ext uri="{FF2B5EF4-FFF2-40B4-BE49-F238E27FC236}">
                <a16:creationId xmlns:a16="http://schemas.microsoft.com/office/drawing/2014/main" id="{049C7ADB-F2A3-77B2-967C-14C7228CF35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49083" y="5682096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5" name="Metin Yer Tutucusu 13">
            <a:extLst>
              <a:ext uri="{FF2B5EF4-FFF2-40B4-BE49-F238E27FC236}">
                <a16:creationId xmlns:a16="http://schemas.microsoft.com/office/drawing/2014/main" id="{836457E7-D9D6-16D1-140D-3D3855A48A8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49077" y="6113349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46" name="Metin Yer Tutucusu 13">
            <a:extLst>
              <a:ext uri="{FF2B5EF4-FFF2-40B4-BE49-F238E27FC236}">
                <a16:creationId xmlns:a16="http://schemas.microsoft.com/office/drawing/2014/main" id="{AB3E6138-EE75-A832-3275-F100B90496B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24938" y="5682096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7" name="Metin Yer Tutucusu 13">
            <a:extLst>
              <a:ext uri="{FF2B5EF4-FFF2-40B4-BE49-F238E27FC236}">
                <a16:creationId xmlns:a16="http://schemas.microsoft.com/office/drawing/2014/main" id="{553886F7-F24E-AC45-9726-210ED305E1E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24932" y="6113349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48" name="Metin Yer Tutucusu 13">
            <a:extLst>
              <a:ext uri="{FF2B5EF4-FFF2-40B4-BE49-F238E27FC236}">
                <a16:creationId xmlns:a16="http://schemas.microsoft.com/office/drawing/2014/main" id="{5F680F98-6057-1866-AFF3-0B5927EF1F1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24597" y="5682096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9" name="Metin Yer Tutucusu 13">
            <a:extLst>
              <a:ext uri="{FF2B5EF4-FFF2-40B4-BE49-F238E27FC236}">
                <a16:creationId xmlns:a16="http://schemas.microsoft.com/office/drawing/2014/main" id="{80B56F11-ED8D-2DF2-9397-C7B6B2E1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324591" y="6113349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0" name="Metin Yer Tutucusu 13">
            <a:extLst>
              <a:ext uri="{FF2B5EF4-FFF2-40B4-BE49-F238E27FC236}">
                <a16:creationId xmlns:a16="http://schemas.microsoft.com/office/drawing/2014/main" id="{CD4903BF-B5F3-1C62-FDF9-E14E68956D0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91592" y="5682096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51" name="Metin Yer Tutucusu 13">
            <a:extLst>
              <a:ext uri="{FF2B5EF4-FFF2-40B4-BE49-F238E27FC236}">
                <a16:creationId xmlns:a16="http://schemas.microsoft.com/office/drawing/2014/main" id="{290B2E7E-F3BB-4BD1-F937-ABB0C0D3DCF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991586" y="6113349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3772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10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4273546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301AEC7F-A649-E68C-55AD-156704CCB3F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019141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89176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1" name="Picture Placeholder 44">
            <a:extLst>
              <a:ext uri="{FF2B5EF4-FFF2-40B4-BE49-F238E27FC236}">
                <a16:creationId xmlns:a16="http://schemas.microsoft.com/office/drawing/2014/main" id="{FFBE23F2-D210-B5CC-4475-FDD2F60D616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559211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" name="Picture Placeholder 44">
            <a:extLst>
              <a:ext uri="{FF2B5EF4-FFF2-40B4-BE49-F238E27FC236}">
                <a16:creationId xmlns:a16="http://schemas.microsoft.com/office/drawing/2014/main" id="{A3787D92-F361-AD10-4414-5A8C73FC900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829246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2" name="Picture Placeholder 44">
            <a:extLst>
              <a:ext uri="{FF2B5EF4-FFF2-40B4-BE49-F238E27FC236}">
                <a16:creationId xmlns:a16="http://schemas.microsoft.com/office/drawing/2014/main" id="{391B8223-BE1C-D80C-9791-00A8B8C4DFE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53569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3" name="Metin Yer Tutucusu 13">
            <a:extLst>
              <a:ext uri="{FF2B5EF4-FFF2-40B4-BE49-F238E27FC236}">
                <a16:creationId xmlns:a16="http://schemas.microsoft.com/office/drawing/2014/main" id="{302EA739-56F1-53F6-11BA-F999EDC53C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744" y="2807775"/>
            <a:ext cx="1846023" cy="2902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F347CD30-616D-D9D3-5296-6C8CFCCD998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7744" y="3239028"/>
            <a:ext cx="1846023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4FD0C78E-9FA6-0D06-12F2-04CB8443E011}"/>
              </a:ext>
            </a:extLst>
          </p:cNvPr>
          <p:cNvSpPr/>
          <p:nvPr userDrawn="1"/>
        </p:nvSpPr>
        <p:spPr>
          <a:xfrm rot="5400000">
            <a:off x="5480680" y="-1380717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23" name="Picture Placeholder 44">
            <a:extLst>
              <a:ext uri="{FF2B5EF4-FFF2-40B4-BE49-F238E27FC236}">
                <a16:creationId xmlns:a16="http://schemas.microsoft.com/office/drawing/2014/main" id="{0E247745-F5F2-D136-7235-EB13A072074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019141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7" name="Picture Placeholder 44">
            <a:extLst>
              <a:ext uri="{FF2B5EF4-FFF2-40B4-BE49-F238E27FC236}">
                <a16:creationId xmlns:a16="http://schemas.microsoft.com/office/drawing/2014/main" id="{323711EB-65CB-8182-72C9-0124C960FF9B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289176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30" name="Picture Placeholder 44">
            <a:extLst>
              <a:ext uri="{FF2B5EF4-FFF2-40B4-BE49-F238E27FC236}">
                <a16:creationId xmlns:a16="http://schemas.microsoft.com/office/drawing/2014/main" id="{9F280660-C6A1-7B3F-3E15-236A7251D9A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7559211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31" name="Picture Placeholder 44">
            <a:extLst>
              <a:ext uri="{FF2B5EF4-FFF2-40B4-BE49-F238E27FC236}">
                <a16:creationId xmlns:a16="http://schemas.microsoft.com/office/drawing/2014/main" id="{C6C47E09-8FF0-BE9C-E567-735358DA090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829246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42" name="Picture Placeholder 44">
            <a:extLst>
              <a:ext uri="{FF2B5EF4-FFF2-40B4-BE49-F238E27FC236}">
                <a16:creationId xmlns:a16="http://schemas.microsoft.com/office/drawing/2014/main" id="{BAC5864E-2ED6-B644-F8FF-3FB5A209681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53569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45" name="Metin Yer Tutucusu 13">
            <a:extLst>
              <a:ext uri="{FF2B5EF4-FFF2-40B4-BE49-F238E27FC236}">
                <a16:creationId xmlns:a16="http://schemas.microsoft.com/office/drawing/2014/main" id="{60F21163-2833-900C-1B1C-DF92FA37E81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64630" y="2807775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6" name="Metin Yer Tutucusu 13">
            <a:extLst>
              <a:ext uri="{FF2B5EF4-FFF2-40B4-BE49-F238E27FC236}">
                <a16:creationId xmlns:a16="http://schemas.microsoft.com/office/drawing/2014/main" id="{C81A64F9-78E3-5A2B-3A87-137308A8271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964630" y="3239028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1" name="Metin Yer Tutucusu 13">
            <a:extLst>
              <a:ext uri="{FF2B5EF4-FFF2-40B4-BE49-F238E27FC236}">
                <a16:creationId xmlns:a16="http://schemas.microsoft.com/office/drawing/2014/main" id="{CDD9BF5E-9AD8-4DEF-E1CF-D6117444D0C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29667" y="2807775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52" name="Metin Yer Tutucusu 13">
            <a:extLst>
              <a:ext uri="{FF2B5EF4-FFF2-40B4-BE49-F238E27FC236}">
                <a16:creationId xmlns:a16="http://schemas.microsoft.com/office/drawing/2014/main" id="{3C393ACD-3875-A391-5AAC-ECE0547603C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229667" y="3239028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3" name="Metin Yer Tutucusu 13">
            <a:extLst>
              <a:ext uri="{FF2B5EF4-FFF2-40B4-BE49-F238E27FC236}">
                <a16:creationId xmlns:a16="http://schemas.microsoft.com/office/drawing/2014/main" id="{CADAC28F-E3D6-8196-69AE-748D87C97AC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526553" y="2807775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54" name="Metin Yer Tutucusu 13">
            <a:extLst>
              <a:ext uri="{FF2B5EF4-FFF2-40B4-BE49-F238E27FC236}">
                <a16:creationId xmlns:a16="http://schemas.microsoft.com/office/drawing/2014/main" id="{8CE5A489-2584-CDF1-BA02-09FE6BA8BF5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526553" y="3239028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5" name="Metin Yer Tutucusu 13">
            <a:extLst>
              <a:ext uri="{FF2B5EF4-FFF2-40B4-BE49-F238E27FC236}">
                <a16:creationId xmlns:a16="http://schemas.microsoft.com/office/drawing/2014/main" id="{6B05B949-EC3C-8DEE-7006-3E23C10D3F0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23439" y="2807775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56" name="Metin Yer Tutucusu 13">
            <a:extLst>
              <a:ext uri="{FF2B5EF4-FFF2-40B4-BE49-F238E27FC236}">
                <a16:creationId xmlns:a16="http://schemas.microsoft.com/office/drawing/2014/main" id="{13C70580-17DF-D523-7E92-7D44DFD0866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23439" y="3239028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7" name="Metin Yer Tutucusu 13">
            <a:extLst>
              <a:ext uri="{FF2B5EF4-FFF2-40B4-BE49-F238E27FC236}">
                <a16:creationId xmlns:a16="http://schemas.microsoft.com/office/drawing/2014/main" id="{05D84DD6-3FBF-CFD1-06B1-F77BA3B520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67744" y="5692490"/>
            <a:ext cx="1846023" cy="2902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58" name="Metin Yer Tutucusu 13">
            <a:extLst>
              <a:ext uri="{FF2B5EF4-FFF2-40B4-BE49-F238E27FC236}">
                <a16:creationId xmlns:a16="http://schemas.microsoft.com/office/drawing/2014/main" id="{CAB843F1-2B27-ED79-9F03-E793EBA0366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67744" y="6123743"/>
            <a:ext cx="1846023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9" name="Metin Yer Tutucusu 13">
            <a:extLst>
              <a:ext uri="{FF2B5EF4-FFF2-40B4-BE49-F238E27FC236}">
                <a16:creationId xmlns:a16="http://schemas.microsoft.com/office/drawing/2014/main" id="{C0037AD6-B229-9D32-D495-010AABCB510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964630" y="5692490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60" name="Metin Yer Tutucusu 13">
            <a:extLst>
              <a:ext uri="{FF2B5EF4-FFF2-40B4-BE49-F238E27FC236}">
                <a16:creationId xmlns:a16="http://schemas.microsoft.com/office/drawing/2014/main" id="{DC87761A-0795-C028-CA99-8FA3841FFBB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964630" y="6123743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61" name="Metin Yer Tutucusu 13">
            <a:extLst>
              <a:ext uri="{FF2B5EF4-FFF2-40B4-BE49-F238E27FC236}">
                <a16:creationId xmlns:a16="http://schemas.microsoft.com/office/drawing/2014/main" id="{99620B04-FAEC-75C1-D27D-6EAC2D7FC4C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229667" y="5692490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62" name="Metin Yer Tutucusu 13">
            <a:extLst>
              <a:ext uri="{FF2B5EF4-FFF2-40B4-BE49-F238E27FC236}">
                <a16:creationId xmlns:a16="http://schemas.microsoft.com/office/drawing/2014/main" id="{43A5677D-BF2A-BDA9-77F7-63CCEF4DBBC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229667" y="6123743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63" name="Metin Yer Tutucusu 13">
            <a:extLst>
              <a:ext uri="{FF2B5EF4-FFF2-40B4-BE49-F238E27FC236}">
                <a16:creationId xmlns:a16="http://schemas.microsoft.com/office/drawing/2014/main" id="{04093F74-3FCD-2818-A727-AE6378814B56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526553" y="5692490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64" name="Metin Yer Tutucusu 13">
            <a:extLst>
              <a:ext uri="{FF2B5EF4-FFF2-40B4-BE49-F238E27FC236}">
                <a16:creationId xmlns:a16="http://schemas.microsoft.com/office/drawing/2014/main" id="{D46ABDE1-775B-4C75-570D-3E2C22D43E4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526553" y="6123743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65" name="Metin Yer Tutucusu 13">
            <a:extLst>
              <a:ext uri="{FF2B5EF4-FFF2-40B4-BE49-F238E27FC236}">
                <a16:creationId xmlns:a16="http://schemas.microsoft.com/office/drawing/2014/main" id="{AD655AB0-5E59-12F9-3826-7ADFCC8C2ED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823439" y="5692490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66" name="Metin Yer Tutucusu 13">
            <a:extLst>
              <a:ext uri="{FF2B5EF4-FFF2-40B4-BE49-F238E27FC236}">
                <a16:creationId xmlns:a16="http://schemas.microsoft.com/office/drawing/2014/main" id="{C709DBE6-07AF-72AD-8784-F43B9BF2B45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823439" y="6123743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6997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ş Slay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</p:spTree>
    <p:extLst>
      <p:ext uri="{BB962C8B-B14F-4D97-AF65-F5344CB8AC3E}">
        <p14:creationId xmlns:p14="http://schemas.microsoft.com/office/powerpoint/2010/main" val="2319154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 Tablo-Grafik-Video Sağ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4051" y="1230314"/>
            <a:ext cx="5419898" cy="5167044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66D5143-EE8E-887A-5548-25E62ED488C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2263" y="1230313"/>
            <a:ext cx="5773737" cy="51670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1636339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 iki Tablo-Grafik-Video Sağ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4051" y="1230314"/>
            <a:ext cx="5419898" cy="5167044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66D5143-EE8E-887A-5548-25E62ED488C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2263" y="1230313"/>
            <a:ext cx="5773737" cy="25364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5">
            <a:extLst>
              <a:ext uri="{FF2B5EF4-FFF2-40B4-BE49-F238E27FC236}">
                <a16:creationId xmlns:a16="http://schemas.microsoft.com/office/drawing/2014/main" id="{634A783E-5CB8-9EAB-6F8F-A8FC14FE8E3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22263" y="3864331"/>
            <a:ext cx="5773737" cy="25364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3018119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ğ Tablo-Grafik-Video Sol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2263" y="1230314"/>
            <a:ext cx="5419898" cy="5167044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66D5143-EE8E-887A-5548-25E62ED488C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67208" y="1230313"/>
            <a:ext cx="5773737" cy="51670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3424532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ğ iki Tablo-Grafik-Video Sol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2263" y="1230314"/>
            <a:ext cx="5419898" cy="5167044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" name="İçerik Yer Tutucusu 5">
            <a:extLst>
              <a:ext uri="{FF2B5EF4-FFF2-40B4-BE49-F238E27FC236}">
                <a16:creationId xmlns:a16="http://schemas.microsoft.com/office/drawing/2014/main" id="{ACC51922-6C56-EFD3-23FD-C31D3199772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96000" y="1230313"/>
            <a:ext cx="5773737" cy="25364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5">
            <a:extLst>
              <a:ext uri="{FF2B5EF4-FFF2-40B4-BE49-F238E27FC236}">
                <a16:creationId xmlns:a16="http://schemas.microsoft.com/office/drawing/2014/main" id="{F0037BFE-8D0B-6BA1-28EC-88F72A5E7DD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96000" y="3864331"/>
            <a:ext cx="5773737" cy="25364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1665017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İki kolon Sağ Resim + Sol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>
            <a:extLst>
              <a:ext uri="{FF2B5EF4-FFF2-40B4-BE49-F238E27FC236}">
                <a16:creationId xmlns:a16="http://schemas.microsoft.com/office/drawing/2014/main" id="{27126EE1-8067-E691-A241-A27F2FD0E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1482">
            <a:off x="8588104" y="289"/>
            <a:ext cx="5040951" cy="8885064"/>
          </a:xfrm>
          <a:prstGeom prst="rect">
            <a:avLst/>
          </a:prstGeom>
        </p:spPr>
      </p:pic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8" name="Resim Yer Tutucusu 7">
            <a:extLst>
              <a:ext uri="{FF2B5EF4-FFF2-40B4-BE49-F238E27FC236}">
                <a16:creationId xmlns:a16="http://schemas.microsoft.com/office/drawing/2014/main" id="{703961E7-5202-91CC-A126-8C78909297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09423" y="1449974"/>
            <a:ext cx="4660314" cy="4660314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1733" y="2039208"/>
            <a:ext cx="6551507" cy="4070763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 </a:t>
            </a:r>
            <a:r>
              <a:rPr lang="tr-TR" err="1"/>
              <a:t>iaculis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.</a:t>
            </a:r>
          </a:p>
        </p:txBody>
      </p:sp>
      <p:sp>
        <p:nvSpPr>
          <p:cNvPr id="10" name="Metin Yer Tutucusu 10">
            <a:extLst>
              <a:ext uri="{FF2B5EF4-FFF2-40B4-BE49-F238E27FC236}">
                <a16:creationId xmlns:a16="http://schemas.microsoft.com/office/drawing/2014/main" id="{96E062D1-A33E-E8E8-5F36-F213AEAED9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2263" y="1449974"/>
            <a:ext cx="6551937" cy="451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latin typeface="Gotham" pitchFamily="2" charset="0"/>
                <a:cs typeface="Gotham" pitchFamily="2" charset="0"/>
              </a:defRPr>
            </a:lvl1pPr>
            <a:lvl2pPr>
              <a:defRPr>
                <a:latin typeface="Gotham" pitchFamily="2" charset="0"/>
                <a:cs typeface="Gotham" pitchFamily="2" charset="0"/>
              </a:defRPr>
            </a:lvl2pPr>
            <a:lvl3pPr>
              <a:defRPr>
                <a:latin typeface="Gotham" pitchFamily="2" charset="0"/>
                <a:cs typeface="Gotham" pitchFamily="2" charset="0"/>
              </a:defRPr>
            </a:lvl3pPr>
            <a:lvl4pPr>
              <a:defRPr>
                <a:latin typeface="Gotham" pitchFamily="2" charset="0"/>
                <a:cs typeface="Gotham" pitchFamily="2" charset="0"/>
              </a:defRPr>
            </a:lvl4pPr>
            <a:lvl5pPr>
              <a:defRPr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Alt Başlık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</p:spTree>
    <p:extLst>
      <p:ext uri="{BB962C8B-B14F-4D97-AF65-F5344CB8AC3E}">
        <p14:creationId xmlns:p14="http://schemas.microsoft.com/office/powerpoint/2010/main" val="498577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kolon Sağ iki Resim + Sol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>
            <a:extLst>
              <a:ext uri="{FF2B5EF4-FFF2-40B4-BE49-F238E27FC236}">
                <a16:creationId xmlns:a16="http://schemas.microsoft.com/office/drawing/2014/main" id="{27126EE1-8067-E691-A241-A27F2FD0E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1482">
            <a:off x="8588104" y="289"/>
            <a:ext cx="5040951" cy="8885064"/>
          </a:xfrm>
          <a:prstGeom prst="rect">
            <a:avLst/>
          </a:prstGeom>
        </p:spPr>
      </p:pic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8" name="Resim Yer Tutucusu 7">
            <a:extLst>
              <a:ext uri="{FF2B5EF4-FFF2-40B4-BE49-F238E27FC236}">
                <a16:creationId xmlns:a16="http://schemas.microsoft.com/office/drawing/2014/main" id="{703961E7-5202-91CC-A126-8C78909297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09423" y="1449974"/>
            <a:ext cx="4660314" cy="2234922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1733" y="2039208"/>
            <a:ext cx="6551507" cy="4070763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 </a:t>
            </a:r>
            <a:r>
              <a:rPr lang="tr-TR" err="1"/>
              <a:t>iaculis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.</a:t>
            </a:r>
          </a:p>
        </p:txBody>
      </p:sp>
      <p:sp>
        <p:nvSpPr>
          <p:cNvPr id="10" name="Metin Yer Tutucusu 10">
            <a:extLst>
              <a:ext uri="{FF2B5EF4-FFF2-40B4-BE49-F238E27FC236}">
                <a16:creationId xmlns:a16="http://schemas.microsoft.com/office/drawing/2014/main" id="{96E062D1-A33E-E8E8-5F36-F213AEAED9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2263" y="1449974"/>
            <a:ext cx="6551937" cy="451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latin typeface="Gotham" pitchFamily="2" charset="0"/>
                <a:cs typeface="Gotham" pitchFamily="2" charset="0"/>
              </a:defRPr>
            </a:lvl1pPr>
            <a:lvl2pPr>
              <a:defRPr>
                <a:latin typeface="Gotham" pitchFamily="2" charset="0"/>
                <a:cs typeface="Gotham" pitchFamily="2" charset="0"/>
              </a:defRPr>
            </a:lvl2pPr>
            <a:lvl3pPr>
              <a:defRPr>
                <a:latin typeface="Gotham" pitchFamily="2" charset="0"/>
                <a:cs typeface="Gotham" pitchFamily="2" charset="0"/>
              </a:defRPr>
            </a:lvl3pPr>
            <a:lvl4pPr>
              <a:defRPr>
                <a:latin typeface="Gotham" pitchFamily="2" charset="0"/>
                <a:cs typeface="Gotham" pitchFamily="2" charset="0"/>
              </a:defRPr>
            </a:lvl4pPr>
            <a:lvl5pPr>
              <a:defRPr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Alt Başlık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" name="Resim Yer Tutucusu 7">
            <a:extLst>
              <a:ext uri="{FF2B5EF4-FFF2-40B4-BE49-F238E27FC236}">
                <a16:creationId xmlns:a16="http://schemas.microsoft.com/office/drawing/2014/main" id="{54831692-56E2-0F0A-FDB1-E22BA574CBD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09423" y="3879275"/>
            <a:ext cx="4660314" cy="2234922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94973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kolon Sol Resim + Sağ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>
            <a:extLst>
              <a:ext uri="{FF2B5EF4-FFF2-40B4-BE49-F238E27FC236}">
                <a16:creationId xmlns:a16="http://schemas.microsoft.com/office/drawing/2014/main" id="{27126EE1-8067-E691-A241-A27F2FD0E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78518" flipH="1">
            <a:off x="-1669802" y="289"/>
            <a:ext cx="5040951" cy="8885064"/>
          </a:xfrm>
          <a:prstGeom prst="rect">
            <a:avLst/>
          </a:prstGeom>
        </p:spPr>
      </p:pic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8" name="Resim Yer Tutucusu 7">
            <a:extLst>
              <a:ext uri="{FF2B5EF4-FFF2-40B4-BE49-F238E27FC236}">
                <a16:creationId xmlns:a16="http://schemas.microsoft.com/office/drawing/2014/main" id="{703961E7-5202-91CC-A126-8C78909297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1733" y="1449974"/>
            <a:ext cx="4660314" cy="4660314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0816" y="2039208"/>
            <a:ext cx="6551507" cy="4070763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 </a:t>
            </a:r>
            <a:r>
              <a:rPr lang="tr-TR" err="1"/>
              <a:t>iaculis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.</a:t>
            </a:r>
          </a:p>
        </p:txBody>
      </p:sp>
      <p:sp>
        <p:nvSpPr>
          <p:cNvPr id="10" name="Metin Yer Tutucusu 10">
            <a:extLst>
              <a:ext uri="{FF2B5EF4-FFF2-40B4-BE49-F238E27FC236}">
                <a16:creationId xmlns:a16="http://schemas.microsoft.com/office/drawing/2014/main" id="{96E062D1-A33E-E8E8-5F36-F213AEAED9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71346" y="1449974"/>
            <a:ext cx="6551937" cy="451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latin typeface="Gotham" pitchFamily="2" charset="0"/>
                <a:cs typeface="Gotham" pitchFamily="2" charset="0"/>
              </a:defRPr>
            </a:lvl1pPr>
            <a:lvl2pPr>
              <a:defRPr>
                <a:latin typeface="Gotham" pitchFamily="2" charset="0"/>
                <a:cs typeface="Gotham" pitchFamily="2" charset="0"/>
              </a:defRPr>
            </a:lvl2pPr>
            <a:lvl3pPr>
              <a:defRPr>
                <a:latin typeface="Gotham" pitchFamily="2" charset="0"/>
                <a:cs typeface="Gotham" pitchFamily="2" charset="0"/>
              </a:defRPr>
            </a:lvl3pPr>
            <a:lvl4pPr>
              <a:defRPr>
                <a:latin typeface="Gotham" pitchFamily="2" charset="0"/>
                <a:cs typeface="Gotham" pitchFamily="2" charset="0"/>
              </a:defRPr>
            </a:lvl4pPr>
            <a:lvl5pPr>
              <a:defRPr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Alt Başlık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</p:spTree>
    <p:extLst>
      <p:ext uri="{BB962C8B-B14F-4D97-AF65-F5344CB8AC3E}">
        <p14:creationId xmlns:p14="http://schemas.microsoft.com/office/powerpoint/2010/main" val="4248021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kolon Sol İki Resim + Sağ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>
            <a:extLst>
              <a:ext uri="{FF2B5EF4-FFF2-40B4-BE49-F238E27FC236}">
                <a16:creationId xmlns:a16="http://schemas.microsoft.com/office/drawing/2014/main" id="{27126EE1-8067-E691-A241-A27F2FD0E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78518" flipH="1">
            <a:off x="-1669802" y="289"/>
            <a:ext cx="5040951" cy="8885064"/>
          </a:xfrm>
          <a:prstGeom prst="rect">
            <a:avLst/>
          </a:prstGeom>
        </p:spPr>
      </p:pic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0816" y="2039208"/>
            <a:ext cx="6551507" cy="4070763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 </a:t>
            </a:r>
            <a:r>
              <a:rPr lang="tr-TR" err="1"/>
              <a:t>iaculis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.</a:t>
            </a:r>
          </a:p>
        </p:txBody>
      </p:sp>
      <p:sp>
        <p:nvSpPr>
          <p:cNvPr id="10" name="Metin Yer Tutucusu 10">
            <a:extLst>
              <a:ext uri="{FF2B5EF4-FFF2-40B4-BE49-F238E27FC236}">
                <a16:creationId xmlns:a16="http://schemas.microsoft.com/office/drawing/2014/main" id="{96E062D1-A33E-E8E8-5F36-F213AEAED9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71346" y="1449974"/>
            <a:ext cx="6551937" cy="451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latin typeface="Gotham" pitchFamily="2" charset="0"/>
                <a:cs typeface="Gotham" pitchFamily="2" charset="0"/>
              </a:defRPr>
            </a:lvl1pPr>
            <a:lvl2pPr>
              <a:defRPr>
                <a:latin typeface="Gotham" pitchFamily="2" charset="0"/>
                <a:cs typeface="Gotham" pitchFamily="2" charset="0"/>
              </a:defRPr>
            </a:lvl2pPr>
            <a:lvl3pPr>
              <a:defRPr>
                <a:latin typeface="Gotham" pitchFamily="2" charset="0"/>
                <a:cs typeface="Gotham" pitchFamily="2" charset="0"/>
              </a:defRPr>
            </a:lvl3pPr>
            <a:lvl4pPr>
              <a:defRPr>
                <a:latin typeface="Gotham" pitchFamily="2" charset="0"/>
                <a:cs typeface="Gotham" pitchFamily="2" charset="0"/>
              </a:defRPr>
            </a:lvl4pPr>
            <a:lvl5pPr>
              <a:defRPr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Alt Başlık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" name="Resim Yer Tutucusu 7">
            <a:extLst>
              <a:ext uri="{FF2B5EF4-FFF2-40B4-BE49-F238E27FC236}">
                <a16:creationId xmlns:a16="http://schemas.microsoft.com/office/drawing/2014/main" id="{48C671BA-4F9E-CE45-B877-D3A7A083DE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8717" y="1449974"/>
            <a:ext cx="4660314" cy="2234922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4" name="Resim Yer Tutucusu 7">
            <a:extLst>
              <a:ext uri="{FF2B5EF4-FFF2-40B4-BE49-F238E27FC236}">
                <a16:creationId xmlns:a16="http://schemas.microsoft.com/office/drawing/2014/main" id="{D739D1B1-800D-BCAA-FEF2-4664142972B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8717" y="3879275"/>
            <a:ext cx="4660314" cy="2234922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5211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 Dikey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2" name="Picture Placeholder 44">
            <a:extLst>
              <a:ext uri="{FF2B5EF4-FFF2-40B4-BE49-F238E27FC236}">
                <a16:creationId xmlns:a16="http://schemas.microsoft.com/office/drawing/2014/main" id="{59E69E72-4B77-222E-457A-D9EF12C224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29033" y="1483790"/>
            <a:ext cx="3133933" cy="4201393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4" name="Metin Yer Tutucusu 13">
            <a:extLst>
              <a:ext uri="{FF2B5EF4-FFF2-40B4-BE49-F238E27FC236}">
                <a16:creationId xmlns:a16="http://schemas.microsoft.com/office/drawing/2014/main" id="{C8EBAFCC-18E8-E21B-91C1-524EE40DE7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29033" y="5704655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12" name="Metin Yer Tutucusu 7">
            <a:extLst>
              <a:ext uri="{FF2B5EF4-FFF2-40B4-BE49-F238E27FC236}">
                <a16:creationId xmlns:a16="http://schemas.microsoft.com/office/drawing/2014/main" id="{4E6C658E-6B99-2A13-2C67-A708960962E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041642" y="1261079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8259107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Çift Dikey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2" name="Picture Placeholder 44">
            <a:extLst>
              <a:ext uri="{FF2B5EF4-FFF2-40B4-BE49-F238E27FC236}">
                <a16:creationId xmlns:a16="http://schemas.microsoft.com/office/drawing/2014/main" id="{59E69E72-4B77-222E-457A-D9EF12C224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38937" y="1483790"/>
            <a:ext cx="3133933" cy="4201393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4" name="Metin Yer Tutucusu 13">
            <a:extLst>
              <a:ext uri="{FF2B5EF4-FFF2-40B4-BE49-F238E27FC236}">
                <a16:creationId xmlns:a16="http://schemas.microsoft.com/office/drawing/2014/main" id="{C8EBAFCC-18E8-E21B-91C1-524EE40DE7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8937" y="5704655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3" name="Picture Placeholder 44">
            <a:extLst>
              <a:ext uri="{FF2B5EF4-FFF2-40B4-BE49-F238E27FC236}">
                <a16:creationId xmlns:a16="http://schemas.microsoft.com/office/drawing/2014/main" id="{D03B4495-0A4B-7F75-FEBB-E524F6973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05879" y="1483790"/>
            <a:ext cx="3133933" cy="4201393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5" name="Metin Yer Tutucusu 13">
            <a:extLst>
              <a:ext uri="{FF2B5EF4-FFF2-40B4-BE49-F238E27FC236}">
                <a16:creationId xmlns:a16="http://schemas.microsoft.com/office/drawing/2014/main" id="{546AE3D3-3AE9-7537-57EE-847546D064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05879" y="5704655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12" name="Metin Yer Tutucusu 7">
            <a:extLst>
              <a:ext uri="{FF2B5EF4-FFF2-40B4-BE49-F238E27FC236}">
                <a16:creationId xmlns:a16="http://schemas.microsoft.com/office/drawing/2014/main" id="{4E6C658E-6B99-2A13-2C67-A708960962E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51546" y="1261079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13" name="Metin Yer Tutucusu 7">
            <a:extLst>
              <a:ext uri="{FF2B5EF4-FFF2-40B4-BE49-F238E27FC236}">
                <a16:creationId xmlns:a16="http://schemas.microsoft.com/office/drawing/2014/main" id="{501D9931-5A2C-6F6C-2EB4-A3E112E21C5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53506" y="1261079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38880338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çlü Dikey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2" name="Picture Placeholder 44">
            <a:extLst>
              <a:ext uri="{FF2B5EF4-FFF2-40B4-BE49-F238E27FC236}">
                <a16:creationId xmlns:a16="http://schemas.microsoft.com/office/drawing/2014/main" id="{59E69E72-4B77-222E-457A-D9EF12C224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13574" y="1483790"/>
            <a:ext cx="3133933" cy="4201393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4" name="Metin Yer Tutucusu 13">
            <a:extLst>
              <a:ext uri="{FF2B5EF4-FFF2-40B4-BE49-F238E27FC236}">
                <a16:creationId xmlns:a16="http://schemas.microsoft.com/office/drawing/2014/main" id="{C8EBAFCC-18E8-E21B-91C1-524EE40DE7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13574" y="5704655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3" name="Picture Placeholder 44">
            <a:extLst>
              <a:ext uri="{FF2B5EF4-FFF2-40B4-BE49-F238E27FC236}">
                <a16:creationId xmlns:a16="http://schemas.microsoft.com/office/drawing/2014/main" id="{D03B4495-0A4B-7F75-FEBB-E524F6973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29033" y="1503262"/>
            <a:ext cx="3133933" cy="4201393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5" name="Metin Yer Tutucusu 13">
            <a:extLst>
              <a:ext uri="{FF2B5EF4-FFF2-40B4-BE49-F238E27FC236}">
                <a16:creationId xmlns:a16="http://schemas.microsoft.com/office/drawing/2014/main" id="{546AE3D3-3AE9-7537-57EE-847546D064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29033" y="5724127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301AEC7F-A649-E68C-55AD-156704CCB3F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0201" y="1483790"/>
            <a:ext cx="3133933" cy="4201393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8" name="Metin Yer Tutucusu 13">
            <a:extLst>
              <a:ext uri="{FF2B5EF4-FFF2-40B4-BE49-F238E27FC236}">
                <a16:creationId xmlns:a16="http://schemas.microsoft.com/office/drawing/2014/main" id="{16F919E7-702F-77CD-8125-D416EA3EB4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201" y="5704655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15" name="Metin Yer Tutucusu 7">
            <a:extLst>
              <a:ext uri="{FF2B5EF4-FFF2-40B4-BE49-F238E27FC236}">
                <a16:creationId xmlns:a16="http://schemas.microsoft.com/office/drawing/2014/main" id="{86BF1C40-0B6C-74C1-2693-B7917F4FB8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162145" y="1258127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16" name="Metin Yer Tutucusu 7">
            <a:extLst>
              <a:ext uri="{FF2B5EF4-FFF2-40B4-BE49-F238E27FC236}">
                <a16:creationId xmlns:a16="http://schemas.microsoft.com/office/drawing/2014/main" id="{05262C36-EC9E-E459-0AC4-C7C16E54CD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77604" y="1257786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17" name="Metin Yer Tutucusu 7">
            <a:extLst>
              <a:ext uri="{FF2B5EF4-FFF2-40B4-BE49-F238E27FC236}">
                <a16:creationId xmlns:a16="http://schemas.microsoft.com/office/drawing/2014/main" id="{8E3625DE-A2F2-EC3E-B632-AC0E00B4EA3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868771" y="1260209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589021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Çift Resim +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69187AB0-2E1D-E235-3B5C-728D72C0CB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1733" y="4944919"/>
            <a:ext cx="11565467" cy="1702452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 </a:t>
            </a:r>
            <a:r>
              <a:rPr lang="tr-TR" err="1"/>
              <a:t>iaculis</a:t>
            </a:r>
            <a:r>
              <a:rPr lang="tr-TR"/>
              <a:t>. </a:t>
            </a:r>
          </a:p>
        </p:txBody>
      </p:sp>
      <p:sp>
        <p:nvSpPr>
          <p:cNvPr id="2" name="Picture Placeholder 44">
            <a:extLst>
              <a:ext uri="{FF2B5EF4-FFF2-40B4-BE49-F238E27FC236}">
                <a16:creationId xmlns:a16="http://schemas.microsoft.com/office/drawing/2014/main" id="{59E69E72-4B77-222E-457A-D9EF12C224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03436" y="1316141"/>
            <a:ext cx="4557732" cy="2830246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3" name="Metin Yer Tutucusu 13">
            <a:extLst>
              <a:ext uri="{FF2B5EF4-FFF2-40B4-BE49-F238E27FC236}">
                <a16:creationId xmlns:a16="http://schemas.microsoft.com/office/drawing/2014/main" id="{AE204DF0-96C1-B13A-5FCA-C3C25DAA974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3436" y="4251499"/>
            <a:ext cx="4557732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4" name="Picture Placeholder 44">
            <a:extLst>
              <a:ext uri="{FF2B5EF4-FFF2-40B4-BE49-F238E27FC236}">
                <a16:creationId xmlns:a16="http://schemas.microsoft.com/office/drawing/2014/main" id="{8DA13A8A-D965-6A1C-D001-639F7499F3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66605" y="1316141"/>
            <a:ext cx="4557732" cy="2830246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5" name="Metin Yer Tutucusu 13">
            <a:extLst>
              <a:ext uri="{FF2B5EF4-FFF2-40B4-BE49-F238E27FC236}">
                <a16:creationId xmlns:a16="http://schemas.microsoft.com/office/drawing/2014/main" id="{FDEAAB8F-F07D-1708-DC2D-116F47A96B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66605" y="4251499"/>
            <a:ext cx="4557732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9" name="Metin Yer Tutucusu 7">
            <a:extLst>
              <a:ext uri="{FF2B5EF4-FFF2-40B4-BE49-F238E27FC236}">
                <a16:creationId xmlns:a16="http://schemas.microsoft.com/office/drawing/2014/main" id="{6ED2A913-4A26-DDC9-0E91-5A0DF8F25D0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130343" y="1104366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11" name="Metin Yer Tutucusu 7">
            <a:extLst>
              <a:ext uri="{FF2B5EF4-FFF2-40B4-BE49-F238E27FC236}">
                <a16:creationId xmlns:a16="http://schemas.microsoft.com/office/drawing/2014/main" id="{C2ECEE06-DA6B-3D79-62E5-0DB39002CC0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056287" y="1104366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29921781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ç Resim ve Açıkl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69187AB0-2E1D-E235-3B5C-728D72C0CB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2143" y="4825651"/>
            <a:ext cx="11527712" cy="1702452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 </a:t>
            </a:r>
            <a:r>
              <a:rPr lang="tr-TR" err="1"/>
              <a:t>iaculis</a:t>
            </a:r>
            <a:r>
              <a:rPr lang="tr-TR"/>
              <a:t>. </a:t>
            </a:r>
          </a:p>
        </p:txBody>
      </p:sp>
      <p:sp>
        <p:nvSpPr>
          <p:cNvPr id="4" name="Picture Placeholder 44">
            <a:extLst>
              <a:ext uri="{FF2B5EF4-FFF2-40B4-BE49-F238E27FC236}">
                <a16:creationId xmlns:a16="http://schemas.microsoft.com/office/drawing/2014/main" id="{8DA13A8A-D965-6A1C-D001-639F7499F3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32143" y="1507067"/>
            <a:ext cx="3603748" cy="2237844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807A29EA-DD85-42A6-74A5-33D1DCC7842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94126" y="1507067"/>
            <a:ext cx="3603748" cy="2237844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8" name="Picture Placeholder 44">
            <a:extLst>
              <a:ext uri="{FF2B5EF4-FFF2-40B4-BE49-F238E27FC236}">
                <a16:creationId xmlns:a16="http://schemas.microsoft.com/office/drawing/2014/main" id="{C4815932-B89B-6D91-2B5D-4F16696D5B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56107" y="1507066"/>
            <a:ext cx="3603748" cy="2237844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F8EBE4A3-C5FF-73C3-E7EF-6D474C6178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4126" y="4001304"/>
            <a:ext cx="3603750" cy="40072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11" name="Metin Yer Tutucusu 13">
            <a:extLst>
              <a:ext uri="{FF2B5EF4-FFF2-40B4-BE49-F238E27FC236}">
                <a16:creationId xmlns:a16="http://schemas.microsoft.com/office/drawing/2014/main" id="{2D7B337B-15B2-A970-BF0D-CD73249B4D7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6107" y="3992229"/>
            <a:ext cx="3603750" cy="40072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12" name="Metin Yer Tutucusu 13">
            <a:extLst>
              <a:ext uri="{FF2B5EF4-FFF2-40B4-BE49-F238E27FC236}">
                <a16:creationId xmlns:a16="http://schemas.microsoft.com/office/drawing/2014/main" id="{CADA8654-0FC6-AE82-8C97-9988906974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2143" y="4019454"/>
            <a:ext cx="3603750" cy="40072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17" name="Metin Yer Tutucusu 7">
            <a:extLst>
              <a:ext uri="{FF2B5EF4-FFF2-40B4-BE49-F238E27FC236}">
                <a16:creationId xmlns:a16="http://schemas.microsoft.com/office/drawing/2014/main" id="{D87D8ECB-E005-A7AC-3CCD-6551B0EDE18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18549" y="1331196"/>
            <a:ext cx="713399" cy="714376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18" name="Metin Yer Tutucusu 7">
            <a:extLst>
              <a:ext uri="{FF2B5EF4-FFF2-40B4-BE49-F238E27FC236}">
                <a16:creationId xmlns:a16="http://schemas.microsoft.com/office/drawing/2014/main" id="{4EB0029D-530C-BBEF-123B-41029165C5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363591" y="1331196"/>
            <a:ext cx="713399" cy="714376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19" name="Metin Yer Tutucusu 7">
            <a:extLst>
              <a:ext uri="{FF2B5EF4-FFF2-40B4-BE49-F238E27FC236}">
                <a16:creationId xmlns:a16="http://schemas.microsoft.com/office/drawing/2014/main" id="{BCA339C8-DF16-E194-A15F-09D8186A457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325573" y="1336033"/>
            <a:ext cx="713399" cy="714376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35448128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örtlü-ikonlu-açıkl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grpSp>
        <p:nvGrpSpPr>
          <p:cNvPr id="29" name="Grup 28">
            <a:extLst>
              <a:ext uri="{FF2B5EF4-FFF2-40B4-BE49-F238E27FC236}">
                <a16:creationId xmlns:a16="http://schemas.microsoft.com/office/drawing/2014/main" id="{79B0A4A1-BFAD-5548-1F83-AF57982DA64B}"/>
              </a:ext>
            </a:extLst>
          </p:cNvPr>
          <p:cNvGrpSpPr/>
          <p:nvPr userDrawn="1"/>
        </p:nvGrpSpPr>
        <p:grpSpPr>
          <a:xfrm>
            <a:off x="504544" y="1561819"/>
            <a:ext cx="11182911" cy="3938436"/>
            <a:chOff x="1617239" y="1284728"/>
            <a:chExt cx="8957525" cy="3154692"/>
          </a:xfrm>
        </p:grpSpPr>
        <p:sp>
          <p:nvSpPr>
            <p:cNvPr id="2" name="Hexagon 2">
              <a:extLst>
                <a:ext uri="{FF2B5EF4-FFF2-40B4-BE49-F238E27FC236}">
                  <a16:creationId xmlns:a16="http://schemas.microsoft.com/office/drawing/2014/main" id="{B916E043-A5C2-F406-0DF9-DD7044E97097}"/>
                </a:ext>
              </a:extLst>
            </p:cNvPr>
            <p:cNvSpPr/>
            <p:nvPr userDrawn="1"/>
          </p:nvSpPr>
          <p:spPr>
            <a:xfrm rot="5400000">
              <a:off x="1457071" y="2148653"/>
              <a:ext cx="2450935" cy="2130600"/>
            </a:xfrm>
            <a:prstGeom prst="hexagon">
              <a:avLst>
                <a:gd name="adj" fmla="val 29281"/>
                <a:gd name="vf" fmla="val 115470"/>
              </a:avLst>
            </a:prstGeom>
            <a:solidFill>
              <a:srgbClr val="8E1438"/>
            </a:solidFill>
            <a:ln w="76200">
              <a:noFill/>
            </a:ln>
            <a:effectLst>
              <a:outerShdw blurRad="508000" dist="228600" dir="2700000" sx="95000" sy="95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Gotham" pitchFamily="2" charset="0"/>
                <a:cs typeface="Gotham" pitchFamily="2" charset="0"/>
              </a:endParaRPr>
            </a:p>
          </p:txBody>
        </p:sp>
        <p:sp>
          <p:nvSpPr>
            <p:cNvPr id="3" name="Hexagon 3">
              <a:extLst>
                <a:ext uri="{FF2B5EF4-FFF2-40B4-BE49-F238E27FC236}">
                  <a16:creationId xmlns:a16="http://schemas.microsoft.com/office/drawing/2014/main" id="{0FF70386-7311-2E94-05FB-AEB91DE9152E}"/>
                </a:ext>
              </a:extLst>
            </p:cNvPr>
            <p:cNvSpPr/>
            <p:nvPr userDrawn="1"/>
          </p:nvSpPr>
          <p:spPr>
            <a:xfrm rot="16200000" flipH="1">
              <a:off x="8283996" y="2148653"/>
              <a:ext cx="2450935" cy="2130600"/>
            </a:xfrm>
            <a:prstGeom prst="hexagon">
              <a:avLst>
                <a:gd name="adj" fmla="val 29281"/>
                <a:gd name="vf" fmla="val 115470"/>
              </a:avLst>
            </a:prstGeom>
            <a:solidFill>
              <a:srgbClr val="8E1438">
                <a:alpha val="40000"/>
              </a:srgbClr>
            </a:solidFill>
            <a:ln w="76200">
              <a:noFill/>
            </a:ln>
            <a:effectLst>
              <a:outerShdw blurRad="508000" dist="228600" dir="2700000" sx="95000" sy="95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Gotham" pitchFamily="2" charset="0"/>
                <a:cs typeface="Gotham" pitchFamily="2" charset="0"/>
              </a:endParaRPr>
            </a:p>
          </p:txBody>
        </p:sp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3064C2F8-D4B5-9A4F-ECF4-321A93FE1952}"/>
                </a:ext>
              </a:extLst>
            </p:cNvPr>
            <p:cNvSpPr/>
            <p:nvPr userDrawn="1"/>
          </p:nvSpPr>
          <p:spPr>
            <a:xfrm rot="5400000">
              <a:off x="3735991" y="1507599"/>
              <a:ext cx="2450935" cy="2130600"/>
            </a:xfrm>
            <a:prstGeom prst="hexagon">
              <a:avLst>
                <a:gd name="adj" fmla="val 29281"/>
                <a:gd name="vf" fmla="val 115470"/>
              </a:avLst>
            </a:prstGeom>
            <a:solidFill>
              <a:srgbClr val="8E1438">
                <a:alpha val="80000"/>
              </a:srgbClr>
            </a:solidFill>
            <a:ln w="76200">
              <a:noFill/>
            </a:ln>
            <a:effectLst>
              <a:outerShdw blurRad="508000" dist="228600" dir="2700000" sx="95000" sy="95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Gotham" pitchFamily="2" charset="0"/>
                <a:cs typeface="Gotham" pitchFamily="2" charset="0"/>
              </a:endParaRPr>
            </a:p>
          </p:txBody>
        </p:sp>
        <p:sp>
          <p:nvSpPr>
            <p:cNvPr id="13" name="Hexagon 5">
              <a:extLst>
                <a:ext uri="{FF2B5EF4-FFF2-40B4-BE49-F238E27FC236}">
                  <a16:creationId xmlns:a16="http://schemas.microsoft.com/office/drawing/2014/main" id="{C8A18B75-C1EF-7A71-9C49-7ECBFB299851}"/>
                </a:ext>
              </a:extLst>
            </p:cNvPr>
            <p:cNvSpPr/>
            <p:nvPr userDrawn="1"/>
          </p:nvSpPr>
          <p:spPr>
            <a:xfrm rot="16200000" flipH="1">
              <a:off x="6005074" y="1507599"/>
              <a:ext cx="2450935" cy="2130600"/>
            </a:xfrm>
            <a:prstGeom prst="hexagon">
              <a:avLst>
                <a:gd name="adj" fmla="val 29281"/>
                <a:gd name="vf" fmla="val 115470"/>
              </a:avLst>
            </a:prstGeom>
            <a:solidFill>
              <a:srgbClr val="8E1438">
                <a:alpha val="60000"/>
              </a:srgbClr>
            </a:solidFill>
            <a:ln w="76200">
              <a:noFill/>
            </a:ln>
            <a:effectLst>
              <a:outerShdw blurRad="508000" dist="228600" dir="2700000" sx="95000" sy="95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Gotham" pitchFamily="2" charset="0"/>
                <a:cs typeface="Gotham" pitchFamily="2" charset="0"/>
              </a:endParaRPr>
            </a:p>
          </p:txBody>
        </p:sp>
        <p:grpSp>
          <p:nvGrpSpPr>
            <p:cNvPr id="15" name="Group 6">
              <a:extLst>
                <a:ext uri="{FF2B5EF4-FFF2-40B4-BE49-F238E27FC236}">
                  <a16:creationId xmlns:a16="http://schemas.microsoft.com/office/drawing/2014/main" id="{84F5D55D-D8BF-D6A7-206F-212DF40B9501}"/>
                </a:ext>
              </a:extLst>
            </p:cNvPr>
            <p:cNvGrpSpPr/>
            <p:nvPr userDrawn="1"/>
          </p:nvGrpSpPr>
          <p:grpSpPr>
            <a:xfrm>
              <a:off x="4103380" y="1284728"/>
              <a:ext cx="588557" cy="588557"/>
              <a:chOff x="3369954" y="5355043"/>
              <a:chExt cx="732898" cy="732898"/>
            </a:xfrm>
          </p:grpSpPr>
          <p:sp>
            <p:nvSpPr>
              <p:cNvPr id="16" name="Rectangle: Rounded Corners 7">
                <a:extLst>
                  <a:ext uri="{FF2B5EF4-FFF2-40B4-BE49-F238E27FC236}">
                    <a16:creationId xmlns:a16="http://schemas.microsoft.com/office/drawing/2014/main" id="{728BA6A1-5153-5283-2722-CF71616F76EA}"/>
                  </a:ext>
                </a:extLst>
              </p:cNvPr>
              <p:cNvSpPr/>
              <p:nvPr/>
            </p:nvSpPr>
            <p:spPr>
              <a:xfrm>
                <a:off x="3369954" y="5355043"/>
                <a:ext cx="732898" cy="732898"/>
              </a:xfrm>
              <a:prstGeom prst="roundRect">
                <a:avLst>
                  <a:gd name="adj" fmla="val 30953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71500" dist="393700" dir="2700000" sx="96000" sy="96000" algn="br" rotWithShape="0">
                  <a:schemeClr val="tx1">
                    <a:lumMod val="95000"/>
                    <a:lumOff val="5000"/>
                    <a:alpha val="1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600">
                  <a:solidFill>
                    <a:srgbClr val="8A9AA8"/>
                  </a:solidFill>
                  <a:latin typeface="Gotham" pitchFamily="2" charset="0"/>
                  <a:cs typeface="Gotham" pitchFamily="2" charset="0"/>
                </a:endParaRPr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FD93E75A-122E-6CC3-8538-A07CD7F919D4}"/>
                  </a:ext>
                </a:extLst>
              </p:cNvPr>
              <p:cNvSpPr/>
              <p:nvPr/>
            </p:nvSpPr>
            <p:spPr>
              <a:xfrm>
                <a:off x="3562510" y="5547599"/>
                <a:ext cx="347787" cy="347787"/>
              </a:xfrm>
              <a:prstGeom prst="rect">
                <a:avLst/>
              </a:prstGeom>
              <a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otham" pitchFamily="2" charset="0"/>
                  <a:cs typeface="Gotham" pitchFamily="2" charset="0"/>
                </a:endParaRPr>
              </a:p>
            </p:txBody>
          </p:sp>
        </p:grpSp>
        <p:grpSp>
          <p:nvGrpSpPr>
            <p:cNvPr id="21" name="Group 9">
              <a:extLst>
                <a:ext uri="{FF2B5EF4-FFF2-40B4-BE49-F238E27FC236}">
                  <a16:creationId xmlns:a16="http://schemas.microsoft.com/office/drawing/2014/main" id="{0CD72508-7920-2EF7-B81D-5B4855AE8B67}"/>
                </a:ext>
              </a:extLst>
            </p:cNvPr>
            <p:cNvGrpSpPr/>
            <p:nvPr userDrawn="1"/>
          </p:nvGrpSpPr>
          <p:grpSpPr>
            <a:xfrm>
              <a:off x="7494280" y="1291830"/>
              <a:ext cx="592446" cy="592446"/>
              <a:chOff x="8056254" y="783043"/>
              <a:chExt cx="732898" cy="732898"/>
            </a:xfrm>
          </p:grpSpPr>
          <p:sp>
            <p:nvSpPr>
              <p:cNvPr id="22" name="Rectangle: Rounded Corners 10">
                <a:extLst>
                  <a:ext uri="{FF2B5EF4-FFF2-40B4-BE49-F238E27FC236}">
                    <a16:creationId xmlns:a16="http://schemas.microsoft.com/office/drawing/2014/main" id="{F8CC5C82-371E-5335-61AD-52D1D5F27953}"/>
                  </a:ext>
                </a:extLst>
              </p:cNvPr>
              <p:cNvSpPr/>
              <p:nvPr/>
            </p:nvSpPr>
            <p:spPr>
              <a:xfrm>
                <a:off x="8056254" y="783043"/>
                <a:ext cx="732898" cy="732898"/>
              </a:xfrm>
              <a:prstGeom prst="roundRect">
                <a:avLst>
                  <a:gd name="adj" fmla="val 36182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71500" dist="393700" dir="2700000" sx="96000" sy="96000" algn="br" rotWithShape="0">
                  <a:schemeClr val="tx1">
                    <a:lumMod val="95000"/>
                    <a:lumOff val="5000"/>
                    <a:alpha val="1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600">
                  <a:solidFill>
                    <a:srgbClr val="8A9AA8"/>
                  </a:solidFill>
                  <a:latin typeface="Gotham" pitchFamily="2" charset="0"/>
                  <a:cs typeface="Gotham" pitchFamily="2" charset="0"/>
                </a:endParaRPr>
              </a:p>
            </p:txBody>
          </p:sp>
          <p:sp>
            <p:nvSpPr>
              <p:cNvPr id="23" name="Rectangle 11">
                <a:extLst>
                  <a:ext uri="{FF2B5EF4-FFF2-40B4-BE49-F238E27FC236}">
                    <a16:creationId xmlns:a16="http://schemas.microsoft.com/office/drawing/2014/main" id="{D97E9ACA-AD37-A6FF-ED4E-0BD8B45D8B87}"/>
                  </a:ext>
                </a:extLst>
              </p:cNvPr>
              <p:cNvSpPr/>
              <p:nvPr/>
            </p:nvSpPr>
            <p:spPr>
              <a:xfrm>
                <a:off x="8248810" y="975599"/>
                <a:ext cx="347787" cy="347787"/>
              </a:xfrm>
              <a:prstGeom prst="rect">
                <a:avLst/>
              </a:prstGeom>
              <a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otham" pitchFamily="2" charset="0"/>
                  <a:cs typeface="Gotham" pitchFamily="2" charset="0"/>
                </a:endParaRPr>
              </a:p>
            </p:txBody>
          </p:sp>
        </p:grpSp>
        <p:grpSp>
          <p:nvGrpSpPr>
            <p:cNvPr id="24" name="Group 12">
              <a:extLst>
                <a:ext uri="{FF2B5EF4-FFF2-40B4-BE49-F238E27FC236}">
                  <a16:creationId xmlns:a16="http://schemas.microsoft.com/office/drawing/2014/main" id="{0A2003A2-0958-DAD2-27C4-917596644F1B}"/>
                </a:ext>
              </a:extLst>
            </p:cNvPr>
            <p:cNvGrpSpPr/>
            <p:nvPr userDrawn="1"/>
          </p:nvGrpSpPr>
          <p:grpSpPr>
            <a:xfrm>
              <a:off x="9812665" y="1959010"/>
              <a:ext cx="595826" cy="595826"/>
              <a:chOff x="9145914" y="4234903"/>
              <a:chExt cx="732898" cy="732898"/>
            </a:xfrm>
          </p:grpSpPr>
          <p:sp>
            <p:nvSpPr>
              <p:cNvPr id="25" name="Rectangle: Rounded Corners 13">
                <a:extLst>
                  <a:ext uri="{FF2B5EF4-FFF2-40B4-BE49-F238E27FC236}">
                    <a16:creationId xmlns:a16="http://schemas.microsoft.com/office/drawing/2014/main" id="{3D1A931F-19B1-0837-4271-3EFA0C4EC175}"/>
                  </a:ext>
                </a:extLst>
              </p:cNvPr>
              <p:cNvSpPr/>
              <p:nvPr/>
            </p:nvSpPr>
            <p:spPr>
              <a:xfrm>
                <a:off x="9145914" y="4234903"/>
                <a:ext cx="732898" cy="732898"/>
              </a:xfrm>
              <a:prstGeom prst="roundRect">
                <a:avLst>
                  <a:gd name="adj" fmla="val 3077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71500" dist="393700" dir="2700000" sx="96000" sy="96000" algn="br" rotWithShape="0">
                  <a:schemeClr val="tx1">
                    <a:lumMod val="95000"/>
                    <a:lumOff val="5000"/>
                    <a:alpha val="1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600">
                  <a:solidFill>
                    <a:srgbClr val="8A9AA8"/>
                  </a:solidFill>
                  <a:latin typeface="Gotham" pitchFamily="2" charset="0"/>
                  <a:cs typeface="Gotham" pitchFamily="2" charset="0"/>
                </a:endParaRPr>
              </a:p>
            </p:txBody>
          </p:sp>
          <p:sp>
            <p:nvSpPr>
              <p:cNvPr id="26" name="Rectangle 14">
                <a:extLst>
                  <a:ext uri="{FF2B5EF4-FFF2-40B4-BE49-F238E27FC236}">
                    <a16:creationId xmlns:a16="http://schemas.microsoft.com/office/drawing/2014/main" id="{45DC6703-FC54-F022-64E5-01F5A2298F2B}"/>
                  </a:ext>
                </a:extLst>
              </p:cNvPr>
              <p:cNvSpPr/>
              <p:nvPr/>
            </p:nvSpPr>
            <p:spPr>
              <a:xfrm>
                <a:off x="9338470" y="4427459"/>
                <a:ext cx="347787" cy="347787"/>
              </a:xfrm>
              <a:prstGeom prst="rect">
                <a:avLst/>
              </a:prstGeom>
              <a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otham" pitchFamily="2" charset="0"/>
                  <a:cs typeface="Gotham" pitchFamily="2" charset="0"/>
                </a:endParaRPr>
              </a:p>
            </p:txBody>
          </p:sp>
        </p:grpSp>
        <p:sp>
          <p:nvSpPr>
            <p:cNvPr id="27" name="Rectangle: Rounded Corners 16">
              <a:extLst>
                <a:ext uri="{FF2B5EF4-FFF2-40B4-BE49-F238E27FC236}">
                  <a16:creationId xmlns:a16="http://schemas.microsoft.com/office/drawing/2014/main" id="{22B4022F-2F7C-58B7-1CD0-862942F46DE8}"/>
                </a:ext>
              </a:extLst>
            </p:cNvPr>
            <p:cNvSpPr/>
            <p:nvPr userDrawn="1"/>
          </p:nvSpPr>
          <p:spPr>
            <a:xfrm>
              <a:off x="1872626" y="1882810"/>
              <a:ext cx="582490" cy="582490"/>
            </a:xfrm>
            <a:prstGeom prst="roundRect">
              <a:avLst>
                <a:gd name="adj" fmla="val 38320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393700" dir="2700000" sx="96000" sy="96000" algn="br" rotWithShape="0">
                <a:schemeClr val="tx1">
                  <a:lumMod val="95000"/>
                  <a:lumOff val="5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600">
                <a:solidFill>
                  <a:srgbClr val="8A9AA8"/>
                </a:solidFill>
                <a:latin typeface="Gotham" pitchFamily="2" charset="0"/>
                <a:cs typeface="Gotham" pitchFamily="2" charset="0"/>
              </a:endParaRPr>
            </a:p>
          </p:txBody>
        </p:sp>
        <p:sp>
          <p:nvSpPr>
            <p:cNvPr id="28" name="Rectangle 17">
              <a:extLst>
                <a:ext uri="{FF2B5EF4-FFF2-40B4-BE49-F238E27FC236}">
                  <a16:creationId xmlns:a16="http://schemas.microsoft.com/office/drawing/2014/main" id="{CC981391-4500-445F-3779-669BDE81DEC0}"/>
                </a:ext>
              </a:extLst>
            </p:cNvPr>
            <p:cNvSpPr/>
            <p:nvPr userDrawn="1"/>
          </p:nvSpPr>
          <p:spPr>
            <a:xfrm>
              <a:off x="2025665" y="2035849"/>
              <a:ext cx="276413" cy="276413"/>
            </a:xfrm>
            <a:prstGeom prst="rect">
              <a:avLst/>
            </a:pr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>
              <a:glow>
                <a:schemeClr val="accent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otham" pitchFamily="2" charset="0"/>
                <a:cs typeface="Gotham" pitchFamily="2" charset="0"/>
              </a:endParaRPr>
            </a:p>
          </p:txBody>
        </p:sp>
      </p:grp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69187AB0-2E1D-E235-3B5C-728D72C0CB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455" y="3535321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1" name="Metin Yer Tutucusu 30">
            <a:extLst>
              <a:ext uri="{FF2B5EF4-FFF2-40B4-BE49-F238E27FC236}">
                <a16:creationId xmlns:a16="http://schemas.microsoft.com/office/drawing/2014/main" id="{3E74E590-BA74-2798-4678-1CBFDD5DB4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000" y="3167063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2" name="Metin Yer Tutucusu 13">
            <a:extLst>
              <a:ext uri="{FF2B5EF4-FFF2-40B4-BE49-F238E27FC236}">
                <a16:creationId xmlns:a16="http://schemas.microsoft.com/office/drawing/2014/main" id="{D3A7AD40-A869-932A-1573-F02569D5E5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107" y="2763316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3" name="Metin Yer Tutucusu 30">
            <a:extLst>
              <a:ext uri="{FF2B5EF4-FFF2-40B4-BE49-F238E27FC236}">
                <a16:creationId xmlns:a16="http://schemas.microsoft.com/office/drawing/2014/main" id="{7C4727BE-6631-90F3-3597-EED0E3E0AC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79652" y="2395058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4" name="Metin Yer Tutucusu 13">
            <a:extLst>
              <a:ext uri="{FF2B5EF4-FFF2-40B4-BE49-F238E27FC236}">
                <a16:creationId xmlns:a16="http://schemas.microsoft.com/office/drawing/2014/main" id="{76F91FE7-8E50-76A5-C005-3FF605FBB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3199" y="2817864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5" name="Metin Yer Tutucusu 30">
            <a:extLst>
              <a:ext uri="{FF2B5EF4-FFF2-40B4-BE49-F238E27FC236}">
                <a16:creationId xmlns:a16="http://schemas.microsoft.com/office/drawing/2014/main" id="{5CCAD116-8DB8-BDFA-9667-0D6A885230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4744" y="2449606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6" name="Metin Yer Tutucusu 13">
            <a:extLst>
              <a:ext uri="{FF2B5EF4-FFF2-40B4-BE49-F238E27FC236}">
                <a16:creationId xmlns:a16="http://schemas.microsoft.com/office/drawing/2014/main" id="{5E3581C4-D931-7FE1-E279-FAF726493E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66288" y="3678001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7" name="Metin Yer Tutucusu 30">
            <a:extLst>
              <a:ext uri="{FF2B5EF4-FFF2-40B4-BE49-F238E27FC236}">
                <a16:creationId xmlns:a16="http://schemas.microsoft.com/office/drawing/2014/main" id="{E5298C03-B4BB-0BFA-7404-9ED98EEE28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77833" y="3309743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9" name="Metin Yer Tutucusu 38">
            <a:extLst>
              <a:ext uri="{FF2B5EF4-FFF2-40B4-BE49-F238E27FC236}">
                <a16:creationId xmlns:a16="http://schemas.microsoft.com/office/drawing/2014/main" id="{98976A95-6FDE-3A60-10D9-4106CF8C5D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25" y="5237773"/>
            <a:ext cx="5492750" cy="101123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32972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çlü-ikonlu-açıkl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2" name="Hexagon 2">
            <a:extLst>
              <a:ext uri="{FF2B5EF4-FFF2-40B4-BE49-F238E27FC236}">
                <a16:creationId xmlns:a16="http://schemas.microsoft.com/office/drawing/2014/main" id="{B916E043-A5C2-F406-0DF9-DD7044E97097}"/>
              </a:ext>
            </a:extLst>
          </p:cNvPr>
          <p:cNvSpPr/>
          <p:nvPr userDrawn="1"/>
        </p:nvSpPr>
        <p:spPr>
          <a:xfrm rot="5400000">
            <a:off x="827049" y="2089434"/>
            <a:ext cx="3059839" cy="2659921"/>
          </a:xfrm>
          <a:prstGeom prst="hexagon">
            <a:avLst>
              <a:gd name="adj" fmla="val 29281"/>
              <a:gd name="vf" fmla="val 115470"/>
            </a:avLst>
          </a:prstGeom>
          <a:solidFill>
            <a:srgbClr val="8E1438"/>
          </a:solidFill>
          <a:ln w="76200">
            <a:noFill/>
          </a:ln>
          <a:effectLst>
            <a:outerShdw blurRad="508000" dist="228600" dir="2700000" sx="95000" sy="95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Gotham" pitchFamily="2" charset="0"/>
              <a:cs typeface="Gotham" pitchFamily="2" charset="0"/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3064C2F8-D4B5-9A4F-ECF4-321A93FE1952}"/>
              </a:ext>
            </a:extLst>
          </p:cNvPr>
          <p:cNvSpPr/>
          <p:nvPr userDrawn="1"/>
        </p:nvSpPr>
        <p:spPr>
          <a:xfrm rot="5400000">
            <a:off x="4564000" y="1840059"/>
            <a:ext cx="3059839" cy="2659921"/>
          </a:xfrm>
          <a:prstGeom prst="hexagon">
            <a:avLst>
              <a:gd name="adj" fmla="val 29281"/>
              <a:gd name="vf" fmla="val 115470"/>
            </a:avLst>
          </a:prstGeom>
          <a:solidFill>
            <a:srgbClr val="8E1438">
              <a:alpha val="80000"/>
            </a:srgbClr>
          </a:solidFill>
          <a:ln w="76200">
            <a:noFill/>
          </a:ln>
          <a:effectLst>
            <a:outerShdw blurRad="508000" dist="228600" dir="2700000" sx="95000" sy="95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Gotham" pitchFamily="2" charset="0"/>
              <a:cs typeface="Gotham" pitchFamily="2" charset="0"/>
            </a:endParaRPr>
          </a:p>
        </p:txBody>
      </p:sp>
      <p:sp>
        <p:nvSpPr>
          <p:cNvPr id="13" name="Hexagon 5">
            <a:extLst>
              <a:ext uri="{FF2B5EF4-FFF2-40B4-BE49-F238E27FC236}">
                <a16:creationId xmlns:a16="http://schemas.microsoft.com/office/drawing/2014/main" id="{C8A18B75-C1EF-7A71-9C49-7ECBFB299851}"/>
              </a:ext>
            </a:extLst>
          </p:cNvPr>
          <p:cNvSpPr/>
          <p:nvPr userDrawn="1"/>
        </p:nvSpPr>
        <p:spPr>
          <a:xfrm rot="16200000" flipH="1">
            <a:off x="8305112" y="2089434"/>
            <a:ext cx="3059839" cy="2659921"/>
          </a:xfrm>
          <a:prstGeom prst="hexagon">
            <a:avLst>
              <a:gd name="adj" fmla="val 29281"/>
              <a:gd name="vf" fmla="val 115470"/>
            </a:avLst>
          </a:prstGeom>
          <a:solidFill>
            <a:srgbClr val="8E1438">
              <a:alpha val="60000"/>
            </a:srgbClr>
          </a:solidFill>
          <a:ln w="76200">
            <a:noFill/>
          </a:ln>
          <a:effectLst>
            <a:outerShdw blurRad="508000" dist="228600" dir="2700000" sx="95000" sy="95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Gotham" pitchFamily="2" charset="0"/>
              <a:cs typeface="Gotham" pitchFamily="2" charset="0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84F5D55D-D8BF-D6A7-206F-212DF40B9501}"/>
              </a:ext>
            </a:extLst>
          </p:cNvPr>
          <p:cNvGrpSpPr/>
          <p:nvPr userDrawn="1"/>
        </p:nvGrpSpPr>
        <p:grpSpPr>
          <a:xfrm>
            <a:off x="5022662" y="1561819"/>
            <a:ext cx="734777" cy="734777"/>
            <a:chOff x="3369954" y="5355043"/>
            <a:chExt cx="732898" cy="732898"/>
          </a:xfrm>
        </p:grpSpPr>
        <p:sp>
          <p:nvSpPr>
            <p:cNvPr id="16" name="Rectangle: Rounded Corners 7">
              <a:extLst>
                <a:ext uri="{FF2B5EF4-FFF2-40B4-BE49-F238E27FC236}">
                  <a16:creationId xmlns:a16="http://schemas.microsoft.com/office/drawing/2014/main" id="{728BA6A1-5153-5283-2722-CF71616F76EA}"/>
                </a:ext>
              </a:extLst>
            </p:cNvPr>
            <p:cNvSpPr/>
            <p:nvPr/>
          </p:nvSpPr>
          <p:spPr>
            <a:xfrm>
              <a:off x="3369954" y="5355043"/>
              <a:ext cx="732898" cy="732898"/>
            </a:xfrm>
            <a:prstGeom prst="roundRect">
              <a:avLst>
                <a:gd name="adj" fmla="val 30953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393700" dir="2700000" sx="96000" sy="96000" algn="br" rotWithShape="0">
                <a:schemeClr val="tx1">
                  <a:lumMod val="95000"/>
                  <a:lumOff val="5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600">
                <a:solidFill>
                  <a:srgbClr val="8A9AA8"/>
                </a:solidFill>
                <a:latin typeface="Gotham" pitchFamily="2" charset="0"/>
                <a:cs typeface="Gotham" pitchFamily="2" charset="0"/>
              </a:endParaRPr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FD93E75A-122E-6CC3-8538-A07CD7F919D4}"/>
                </a:ext>
              </a:extLst>
            </p:cNvPr>
            <p:cNvSpPr/>
            <p:nvPr/>
          </p:nvSpPr>
          <p:spPr>
            <a:xfrm>
              <a:off x="3562510" y="5547599"/>
              <a:ext cx="347787" cy="347787"/>
            </a:xfrm>
            <a:prstGeom prst="rect">
              <a:avLst/>
            </a:pr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otham" pitchFamily="2" charset="0"/>
                <a:cs typeface="Gotham" pitchFamily="2" charset="0"/>
              </a:endParaRPr>
            </a:p>
          </p:txBody>
        </p:sp>
      </p:grpSp>
      <p:grpSp>
        <p:nvGrpSpPr>
          <p:cNvPr id="21" name="Group 9">
            <a:extLst>
              <a:ext uri="{FF2B5EF4-FFF2-40B4-BE49-F238E27FC236}">
                <a16:creationId xmlns:a16="http://schemas.microsoft.com/office/drawing/2014/main" id="{0CD72508-7920-2EF7-B81D-5B4855AE8B67}"/>
              </a:ext>
            </a:extLst>
          </p:cNvPr>
          <p:cNvGrpSpPr/>
          <p:nvPr userDrawn="1"/>
        </p:nvGrpSpPr>
        <p:grpSpPr>
          <a:xfrm>
            <a:off x="10164293" y="1820060"/>
            <a:ext cx="739632" cy="739632"/>
            <a:chOff x="8056254" y="783043"/>
            <a:chExt cx="732898" cy="732898"/>
          </a:xfrm>
        </p:grpSpPr>
        <p:sp>
          <p:nvSpPr>
            <p:cNvPr id="22" name="Rectangle: Rounded Corners 10">
              <a:extLst>
                <a:ext uri="{FF2B5EF4-FFF2-40B4-BE49-F238E27FC236}">
                  <a16:creationId xmlns:a16="http://schemas.microsoft.com/office/drawing/2014/main" id="{F8CC5C82-371E-5335-61AD-52D1D5F27953}"/>
                </a:ext>
              </a:extLst>
            </p:cNvPr>
            <p:cNvSpPr/>
            <p:nvPr/>
          </p:nvSpPr>
          <p:spPr>
            <a:xfrm>
              <a:off x="8056254" y="783043"/>
              <a:ext cx="732898" cy="732898"/>
            </a:xfrm>
            <a:prstGeom prst="roundRect">
              <a:avLst>
                <a:gd name="adj" fmla="val 36182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393700" dir="2700000" sx="96000" sy="96000" algn="br" rotWithShape="0">
                <a:schemeClr val="tx1">
                  <a:lumMod val="95000"/>
                  <a:lumOff val="5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600">
                <a:solidFill>
                  <a:srgbClr val="8A9AA8"/>
                </a:solidFill>
                <a:latin typeface="Gotham" pitchFamily="2" charset="0"/>
                <a:cs typeface="Gotham" pitchFamily="2" charset="0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D97E9ACA-AD37-A6FF-ED4E-0BD8B45D8B87}"/>
                </a:ext>
              </a:extLst>
            </p:cNvPr>
            <p:cNvSpPr/>
            <p:nvPr/>
          </p:nvSpPr>
          <p:spPr>
            <a:xfrm>
              <a:off x="8248810" y="975599"/>
              <a:ext cx="347787" cy="347787"/>
            </a:xfrm>
            <a:prstGeom prst="rect">
              <a:avLst/>
            </a:pr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otham" pitchFamily="2" charset="0"/>
                <a:cs typeface="Gotham" pitchFamily="2" charset="0"/>
              </a:endParaRPr>
            </a:p>
          </p:txBody>
        </p:sp>
      </p:grpSp>
      <p:sp>
        <p:nvSpPr>
          <p:cNvPr id="27" name="Rectangle: Rounded Corners 16">
            <a:extLst>
              <a:ext uri="{FF2B5EF4-FFF2-40B4-BE49-F238E27FC236}">
                <a16:creationId xmlns:a16="http://schemas.microsoft.com/office/drawing/2014/main" id="{22B4022F-2F7C-58B7-1CD0-862942F46DE8}"/>
              </a:ext>
            </a:extLst>
          </p:cNvPr>
          <p:cNvSpPr/>
          <p:nvPr userDrawn="1"/>
        </p:nvSpPr>
        <p:spPr>
          <a:xfrm>
            <a:off x="1345844" y="1757546"/>
            <a:ext cx="727202" cy="727202"/>
          </a:xfrm>
          <a:prstGeom prst="roundRect">
            <a:avLst>
              <a:gd name="adj" fmla="val 38320"/>
            </a:avLst>
          </a:prstGeom>
          <a:solidFill>
            <a:schemeClr val="bg1"/>
          </a:solidFill>
          <a:ln>
            <a:noFill/>
          </a:ln>
          <a:effectLst>
            <a:outerShdw blurRad="571500" dist="393700" dir="2700000" sx="96000" sy="96000" algn="br" rotWithShape="0">
              <a:schemeClr val="tx1">
                <a:lumMod val="95000"/>
                <a:lumOff val="5000"/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solidFill>
                <a:srgbClr val="8A9AA8"/>
              </a:solidFill>
              <a:latin typeface="Gotham" pitchFamily="2" charset="0"/>
              <a:cs typeface="Gotham" pitchFamily="2" charset="0"/>
            </a:endParaRPr>
          </a:p>
        </p:txBody>
      </p:sp>
      <p:sp>
        <p:nvSpPr>
          <p:cNvPr id="28" name="Rectangle 17">
            <a:extLst>
              <a:ext uri="{FF2B5EF4-FFF2-40B4-BE49-F238E27FC236}">
                <a16:creationId xmlns:a16="http://schemas.microsoft.com/office/drawing/2014/main" id="{CC981391-4500-445F-3779-669BDE81DEC0}"/>
              </a:ext>
            </a:extLst>
          </p:cNvPr>
          <p:cNvSpPr/>
          <p:nvPr userDrawn="1"/>
        </p:nvSpPr>
        <p:spPr>
          <a:xfrm>
            <a:off x="1536903" y="1948606"/>
            <a:ext cx="345084" cy="345084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  <a:effectLst>
            <a:glow>
              <a:schemeClr val="accent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" pitchFamily="2" charset="0"/>
              <a:cs typeface="Gotham" pitchFamily="2" charset="0"/>
            </a:endParaRPr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69187AB0-2E1D-E235-3B5C-728D72C0CB88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145920" y="2984380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1" name="Metin Yer Tutucusu 30">
            <a:extLst>
              <a:ext uri="{FF2B5EF4-FFF2-40B4-BE49-F238E27FC236}">
                <a16:creationId xmlns:a16="http://schemas.microsoft.com/office/drawing/2014/main" id="{3E74E590-BA74-2798-4678-1CBFDD5DB42D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157465" y="2616122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2" name="Metin Yer Tutucusu 13">
            <a:extLst>
              <a:ext uri="{FF2B5EF4-FFF2-40B4-BE49-F238E27FC236}">
                <a16:creationId xmlns:a16="http://schemas.microsoft.com/office/drawing/2014/main" id="{D3A7AD40-A869-932A-1573-F02569D5E57D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882433" y="2763316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3" name="Metin Yer Tutucusu 30">
            <a:extLst>
              <a:ext uri="{FF2B5EF4-FFF2-40B4-BE49-F238E27FC236}">
                <a16:creationId xmlns:a16="http://schemas.microsoft.com/office/drawing/2014/main" id="{7C4727BE-6631-90F3-3597-EED0E3E0AC2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893978" y="2395058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4" name="Metin Yer Tutucusu 13">
            <a:extLst>
              <a:ext uri="{FF2B5EF4-FFF2-40B4-BE49-F238E27FC236}">
                <a16:creationId xmlns:a16="http://schemas.microsoft.com/office/drawing/2014/main" id="{76F91FE7-8E50-76A5-C005-3FF605FBB784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635829" y="3067239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5" name="Metin Yer Tutucusu 30">
            <a:extLst>
              <a:ext uri="{FF2B5EF4-FFF2-40B4-BE49-F238E27FC236}">
                <a16:creationId xmlns:a16="http://schemas.microsoft.com/office/drawing/2014/main" id="{5CCAD116-8DB8-BDFA-9667-0D6A8852306F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8647374" y="2698981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9" name="Metin Yer Tutucusu 38">
            <a:extLst>
              <a:ext uri="{FF2B5EF4-FFF2-40B4-BE49-F238E27FC236}">
                <a16:creationId xmlns:a16="http://schemas.microsoft.com/office/drawing/2014/main" id="{98976A95-6FDE-3A60-10D9-4106CF8C5DE3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349625" y="5237773"/>
            <a:ext cx="5492750" cy="101123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00092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li-ikonlu-açıkl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2" name="Hexagon 2">
            <a:extLst>
              <a:ext uri="{FF2B5EF4-FFF2-40B4-BE49-F238E27FC236}">
                <a16:creationId xmlns:a16="http://schemas.microsoft.com/office/drawing/2014/main" id="{B916E043-A5C2-F406-0DF9-DD7044E97097}"/>
              </a:ext>
            </a:extLst>
          </p:cNvPr>
          <p:cNvSpPr/>
          <p:nvPr userDrawn="1"/>
        </p:nvSpPr>
        <p:spPr>
          <a:xfrm rot="5400000">
            <a:off x="2705725" y="1840059"/>
            <a:ext cx="3059839" cy="2659921"/>
          </a:xfrm>
          <a:prstGeom prst="hexagon">
            <a:avLst>
              <a:gd name="adj" fmla="val 29281"/>
              <a:gd name="vf" fmla="val 115470"/>
            </a:avLst>
          </a:prstGeom>
          <a:solidFill>
            <a:srgbClr val="8E1438"/>
          </a:solidFill>
          <a:ln w="76200">
            <a:noFill/>
          </a:ln>
          <a:effectLst>
            <a:outerShdw blurRad="508000" dist="228600" dir="2700000" sx="95000" sy="95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Gotham" pitchFamily="2" charset="0"/>
              <a:cs typeface="Gotham" pitchFamily="2" charset="0"/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3064C2F8-D4B5-9A4F-ECF4-321A93FE1952}"/>
              </a:ext>
            </a:extLst>
          </p:cNvPr>
          <p:cNvSpPr/>
          <p:nvPr userDrawn="1"/>
        </p:nvSpPr>
        <p:spPr>
          <a:xfrm rot="5400000">
            <a:off x="6442676" y="1840059"/>
            <a:ext cx="3059839" cy="2659921"/>
          </a:xfrm>
          <a:prstGeom prst="hexagon">
            <a:avLst>
              <a:gd name="adj" fmla="val 29281"/>
              <a:gd name="vf" fmla="val 115470"/>
            </a:avLst>
          </a:prstGeom>
          <a:solidFill>
            <a:srgbClr val="8E1438">
              <a:alpha val="80000"/>
            </a:srgbClr>
          </a:solidFill>
          <a:ln w="76200">
            <a:noFill/>
          </a:ln>
          <a:effectLst>
            <a:outerShdw blurRad="508000" dist="228600" dir="2700000" sx="95000" sy="95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Gotham" pitchFamily="2" charset="0"/>
              <a:cs typeface="Gotham" pitchFamily="2" charset="0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84F5D55D-D8BF-D6A7-206F-212DF40B9501}"/>
              </a:ext>
            </a:extLst>
          </p:cNvPr>
          <p:cNvGrpSpPr/>
          <p:nvPr userDrawn="1"/>
        </p:nvGrpSpPr>
        <p:grpSpPr>
          <a:xfrm>
            <a:off x="6901338" y="1561819"/>
            <a:ext cx="734777" cy="734777"/>
            <a:chOff x="3369954" y="5355043"/>
            <a:chExt cx="732898" cy="732898"/>
          </a:xfrm>
        </p:grpSpPr>
        <p:sp>
          <p:nvSpPr>
            <p:cNvPr id="16" name="Rectangle: Rounded Corners 7">
              <a:extLst>
                <a:ext uri="{FF2B5EF4-FFF2-40B4-BE49-F238E27FC236}">
                  <a16:creationId xmlns:a16="http://schemas.microsoft.com/office/drawing/2014/main" id="{728BA6A1-5153-5283-2722-CF71616F76EA}"/>
                </a:ext>
              </a:extLst>
            </p:cNvPr>
            <p:cNvSpPr/>
            <p:nvPr/>
          </p:nvSpPr>
          <p:spPr>
            <a:xfrm>
              <a:off x="3369954" y="5355043"/>
              <a:ext cx="732898" cy="732898"/>
            </a:xfrm>
            <a:prstGeom prst="roundRect">
              <a:avLst>
                <a:gd name="adj" fmla="val 30953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393700" dir="2700000" sx="96000" sy="96000" algn="br" rotWithShape="0">
                <a:schemeClr val="tx1">
                  <a:lumMod val="95000"/>
                  <a:lumOff val="5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600">
                <a:solidFill>
                  <a:srgbClr val="8A9AA8"/>
                </a:solidFill>
                <a:latin typeface="Gotham" pitchFamily="2" charset="0"/>
                <a:cs typeface="Gotham" pitchFamily="2" charset="0"/>
              </a:endParaRPr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FD93E75A-122E-6CC3-8538-A07CD7F919D4}"/>
                </a:ext>
              </a:extLst>
            </p:cNvPr>
            <p:cNvSpPr/>
            <p:nvPr/>
          </p:nvSpPr>
          <p:spPr>
            <a:xfrm>
              <a:off x="3562510" y="5547599"/>
              <a:ext cx="347787" cy="347787"/>
            </a:xfrm>
            <a:prstGeom prst="rect">
              <a:avLst/>
            </a:pr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otham" pitchFamily="2" charset="0"/>
                <a:cs typeface="Gotham" pitchFamily="2" charset="0"/>
              </a:endParaRPr>
            </a:p>
          </p:txBody>
        </p:sp>
      </p:grpSp>
      <p:sp>
        <p:nvSpPr>
          <p:cNvPr id="27" name="Rectangle: Rounded Corners 16">
            <a:extLst>
              <a:ext uri="{FF2B5EF4-FFF2-40B4-BE49-F238E27FC236}">
                <a16:creationId xmlns:a16="http://schemas.microsoft.com/office/drawing/2014/main" id="{22B4022F-2F7C-58B7-1CD0-862942F46DE8}"/>
              </a:ext>
            </a:extLst>
          </p:cNvPr>
          <p:cNvSpPr/>
          <p:nvPr userDrawn="1"/>
        </p:nvSpPr>
        <p:spPr>
          <a:xfrm>
            <a:off x="3224520" y="1508171"/>
            <a:ext cx="727202" cy="727202"/>
          </a:xfrm>
          <a:prstGeom prst="roundRect">
            <a:avLst>
              <a:gd name="adj" fmla="val 38320"/>
            </a:avLst>
          </a:prstGeom>
          <a:solidFill>
            <a:schemeClr val="bg1"/>
          </a:solidFill>
          <a:ln>
            <a:noFill/>
          </a:ln>
          <a:effectLst>
            <a:outerShdw blurRad="571500" dist="393700" dir="2700000" sx="96000" sy="96000" algn="br" rotWithShape="0">
              <a:schemeClr val="tx1">
                <a:lumMod val="95000"/>
                <a:lumOff val="5000"/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solidFill>
                <a:srgbClr val="8A9AA8"/>
              </a:solidFill>
              <a:latin typeface="Gotham" pitchFamily="2" charset="0"/>
              <a:cs typeface="Gotham" pitchFamily="2" charset="0"/>
            </a:endParaRPr>
          </a:p>
        </p:txBody>
      </p:sp>
      <p:sp>
        <p:nvSpPr>
          <p:cNvPr id="28" name="Rectangle 17">
            <a:extLst>
              <a:ext uri="{FF2B5EF4-FFF2-40B4-BE49-F238E27FC236}">
                <a16:creationId xmlns:a16="http://schemas.microsoft.com/office/drawing/2014/main" id="{CC981391-4500-445F-3779-669BDE81DEC0}"/>
              </a:ext>
            </a:extLst>
          </p:cNvPr>
          <p:cNvSpPr/>
          <p:nvPr userDrawn="1"/>
        </p:nvSpPr>
        <p:spPr>
          <a:xfrm>
            <a:off x="3415579" y="1699231"/>
            <a:ext cx="345084" cy="345084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  <a:effectLst>
            <a:glow>
              <a:schemeClr val="accent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" pitchFamily="2" charset="0"/>
              <a:cs typeface="Gotham" pitchFamily="2" charset="0"/>
            </a:endParaRPr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69187AB0-2E1D-E235-3B5C-728D72C0CB88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024596" y="2735005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1" name="Metin Yer Tutucusu 30">
            <a:extLst>
              <a:ext uri="{FF2B5EF4-FFF2-40B4-BE49-F238E27FC236}">
                <a16:creationId xmlns:a16="http://schemas.microsoft.com/office/drawing/2014/main" id="{3E74E590-BA74-2798-4678-1CBFDD5DB42D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036141" y="2366747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2" name="Metin Yer Tutucusu 13">
            <a:extLst>
              <a:ext uri="{FF2B5EF4-FFF2-40B4-BE49-F238E27FC236}">
                <a16:creationId xmlns:a16="http://schemas.microsoft.com/office/drawing/2014/main" id="{D3A7AD40-A869-932A-1573-F02569D5E57D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761109" y="2763316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3" name="Metin Yer Tutucusu 30">
            <a:extLst>
              <a:ext uri="{FF2B5EF4-FFF2-40B4-BE49-F238E27FC236}">
                <a16:creationId xmlns:a16="http://schemas.microsoft.com/office/drawing/2014/main" id="{7C4727BE-6631-90F3-3597-EED0E3E0AC2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772654" y="2395058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9" name="Metin Yer Tutucusu 38">
            <a:extLst>
              <a:ext uri="{FF2B5EF4-FFF2-40B4-BE49-F238E27FC236}">
                <a16:creationId xmlns:a16="http://schemas.microsoft.com/office/drawing/2014/main" id="{98976A95-6FDE-3A60-10D9-4106CF8C5DE3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349625" y="5237773"/>
            <a:ext cx="5492750" cy="101123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448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31.xml"/><Relationship Id="rId3" Type="http://schemas.openxmlformats.org/officeDocument/2006/relationships/slideLayout" Target="../slideLayouts/slideLayout8.xml"/><Relationship Id="rId21" Type="http://schemas.openxmlformats.org/officeDocument/2006/relationships/slideLayout" Target="../slideLayouts/slideLayout26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28" Type="http://schemas.openxmlformats.org/officeDocument/2006/relationships/image" Target="../media/image8.emf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Relationship Id="rId2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7">
            <a:extLst>
              <a:ext uri="{FF2B5EF4-FFF2-40B4-BE49-F238E27FC236}">
                <a16:creationId xmlns:a16="http://schemas.microsoft.com/office/drawing/2014/main" id="{087E790D-1664-399D-C139-27A0B1A5145B}"/>
              </a:ext>
            </a:extLst>
          </p:cNvPr>
          <p:cNvSpPr/>
          <p:nvPr userDrawn="1"/>
        </p:nvSpPr>
        <p:spPr>
          <a:xfrm>
            <a:off x="1" y="-19119"/>
            <a:ext cx="12207766" cy="6987477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16DB595E-12E0-2ABF-3BEC-9ABBE85DBBB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74755" y="216491"/>
            <a:ext cx="1744489" cy="626400"/>
          </a:xfrm>
          <a:prstGeom prst="rect">
            <a:avLst/>
          </a:prstGeom>
        </p:spPr>
      </p:pic>
      <p:sp>
        <p:nvSpPr>
          <p:cNvPr id="8" name="Aynı Kenardaki Köşeleri Yuvarlatılmış Dikdörtgen 7">
            <a:extLst>
              <a:ext uri="{FF2B5EF4-FFF2-40B4-BE49-F238E27FC236}">
                <a16:creationId xmlns:a16="http://schemas.microsoft.com/office/drawing/2014/main" id="{B443896D-6249-649A-0A92-005147C30288}"/>
              </a:ext>
            </a:extLst>
          </p:cNvPr>
          <p:cNvSpPr/>
          <p:nvPr userDrawn="1"/>
        </p:nvSpPr>
        <p:spPr>
          <a:xfrm rot="16200000">
            <a:off x="11439318" y="-52891"/>
            <a:ext cx="421945" cy="1083418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16EB2F03-D6B8-F421-96B3-4DB6505A7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8E1438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6670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8ADA434-9920-2510-FB2C-79DC12F66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BD594-13FD-0342-83FD-7687A326888C}" type="datetimeFigureOut">
              <a:rPr lang="tr-TR" smtClean="0"/>
              <a:t>20.05.2026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8F1A1D5-DB16-3D51-8DB1-6207A54B1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2FAFA43-CCCC-2586-2820-714DA77E3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A0AC1-CBF8-A645-9507-D5B8E7C3957C}" type="slidenum">
              <a:rPr lang="tr-TR" smtClean="0"/>
              <a:t>‹N°›</a:t>
            </a:fld>
            <a:endParaRPr lang="tr-TR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22D60859-C9ED-FF18-68A9-29D50616A16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-3313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9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C61181D6-F255-5AFB-7DE0-1130A69223F1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69" y="216491"/>
            <a:ext cx="1728058" cy="626195"/>
          </a:xfrm>
          <a:prstGeom prst="rect">
            <a:avLst/>
          </a:prstGeom>
        </p:spPr>
      </p:pic>
      <p:sp>
        <p:nvSpPr>
          <p:cNvPr id="8" name="Aynı Kenardaki Köşeleri Yuvarlatılmış Dikdörtgen 7">
            <a:extLst>
              <a:ext uri="{FF2B5EF4-FFF2-40B4-BE49-F238E27FC236}">
                <a16:creationId xmlns:a16="http://schemas.microsoft.com/office/drawing/2014/main" id="{D2199FB0-2D0B-6265-FCCF-05BAEE9CACF8}"/>
              </a:ext>
            </a:extLst>
          </p:cNvPr>
          <p:cNvSpPr/>
          <p:nvPr userDrawn="1"/>
        </p:nvSpPr>
        <p:spPr>
          <a:xfrm rot="16200000">
            <a:off x="11439318" y="-52891"/>
            <a:ext cx="421945" cy="1083418"/>
          </a:xfrm>
          <a:prstGeom prst="round2SameRect">
            <a:avLst/>
          </a:prstGeom>
          <a:solidFill>
            <a:srgbClr val="8E14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6EE22104-8811-95C8-4E53-F95733C2C7C9}"/>
              </a:ext>
            </a:extLst>
          </p:cNvPr>
          <p:cNvSpPr txBox="1">
            <a:spLocks/>
          </p:cNvSpPr>
          <p:nvPr userDrawn="1"/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Gotham" pitchFamily="2" charset="0"/>
                <a:ea typeface="+mn-ea"/>
                <a:cs typeface="Gotham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62D8D3-5C38-8D43-BD98-13F7A0749A0B}" type="slidenum">
              <a:rPr lang="tr-TR" smtClean="0"/>
              <a:pPr/>
              <a:t>‹N°›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034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22" r:id="rId2"/>
    <p:sldLayoutId id="2147483723" r:id="rId3"/>
    <p:sldLayoutId id="2147483744" r:id="rId4"/>
    <p:sldLayoutId id="2147483711" r:id="rId5"/>
    <p:sldLayoutId id="2147483735" r:id="rId6"/>
    <p:sldLayoutId id="2147483741" r:id="rId7"/>
    <p:sldLayoutId id="2147483740" r:id="rId8"/>
    <p:sldLayoutId id="2147483742" r:id="rId9"/>
    <p:sldLayoutId id="2147483743" r:id="rId10"/>
    <p:sldLayoutId id="2147483712" r:id="rId11"/>
    <p:sldLayoutId id="2147483727" r:id="rId12"/>
    <p:sldLayoutId id="2147483714" r:id="rId13"/>
    <p:sldLayoutId id="2147483728" r:id="rId14"/>
    <p:sldLayoutId id="2147483746" r:id="rId15"/>
    <p:sldLayoutId id="2147483724" r:id="rId16"/>
    <p:sldLayoutId id="2147483710" r:id="rId17"/>
    <p:sldLayoutId id="2147483725" r:id="rId18"/>
    <p:sldLayoutId id="2147483721" r:id="rId19"/>
    <p:sldLayoutId id="2147483662" r:id="rId20"/>
    <p:sldLayoutId id="2147483663" r:id="rId21"/>
    <p:sldLayoutId id="2147483726" r:id="rId22"/>
    <p:sldLayoutId id="2147483660" r:id="rId23"/>
    <p:sldLayoutId id="2147483708" r:id="rId24"/>
    <p:sldLayoutId id="2147483715" r:id="rId25"/>
    <p:sldLayoutId id="2147483716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502920"/>
            <a:ext cx="2423160" cy="292608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GRADUATION PROJECT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731520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0" b="1" i="0">
                <a:solidFill>
                  <a:srgbClr val="FFFFFF"/>
                </a:solidFill>
                <a:latin typeface="Calibri"/>
              </a:rPr>
              <a:t>AstroBot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59436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6F7FB"/>
                </a:solidFill>
                <a:latin typeface="Calibri"/>
              </a:rPr>
              <a:t>An Intelligent Conversational AI Assistant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6F7FB"/>
                </a:solidFill>
                <a:latin typeface="Calibri"/>
              </a:rPr>
              <a:t>with Multimodal Capabilities, RAG and Workflow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49039"/>
            <a:ext cx="594360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9C94D"/>
                </a:solidFill>
                <a:latin typeface="Calibri"/>
              </a:rPr>
              <a:t>MFBP 402 — Graduation Project II</a:t>
            </a:r>
          </a:p>
          <a:p>
            <a:pPr algn="l">
              <a:spcAft>
                <a:spcPts val="100"/>
              </a:spcAft>
            </a:pPr>
            <a:r>
              <a:rPr sz="1200" b="0" i="1">
                <a:solidFill>
                  <a:srgbClr val="F6F7FB"/>
                </a:solidFill>
                <a:latin typeface="Calibri"/>
              </a:rPr>
              <a:t>Computer Engineering · Faculty of Engineering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F6F7FB"/>
                </a:solidFill>
                <a:latin typeface="Calibri"/>
              </a:rPr>
              <a:t>OSTIM Technical University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84632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idiane-kon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937760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81912" y="5029200"/>
            <a:ext cx="1527048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Tidiane Konaté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F9C94D"/>
                </a:solidFill>
                <a:latin typeface="Calibri"/>
              </a:rPr>
              <a:t>Architecture · Backend ·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484632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idi-mohamed-s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493776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70832" y="5029200"/>
            <a:ext cx="1527048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Sidi Mohamed Sall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F9C94D"/>
                </a:solidFill>
                <a:latin typeface="Calibri"/>
              </a:rPr>
              <a:t>Vision · Product · 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484632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ahmed-essal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59752" y="5029200"/>
            <a:ext cx="1527048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Ahmed Essalem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F9C94D"/>
                </a:solidFill>
                <a:latin typeface="Calibri"/>
              </a:rPr>
              <a:t>AI Engineer · LLM &amp; Multimodal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484632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aad-ibrahim-housse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4937760"/>
            <a:ext cx="914400" cy="914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48672" y="5029200"/>
            <a:ext cx="1527048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Saad Ibrahim Houssein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F9C94D"/>
                </a:solidFill>
                <a:latin typeface="Calibri"/>
              </a:rPr>
              <a:t>QA · Frontend ·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636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F6F7FB"/>
                </a:solidFill>
                <a:latin typeface="Calibri"/>
              </a:rPr>
              <a:t>May 18 – 21, 2026   ·   Advisor: Assist. Prof. Dr. Yücel TEKİN</a:t>
            </a:r>
          </a:p>
        </p:txBody>
      </p:sp>
    </p:spTree>
    <p:extLst>
      <p:ext uri="{BB962C8B-B14F-4D97-AF65-F5344CB8AC3E}">
        <p14:creationId xmlns:p14="http://schemas.microsoft.com/office/powerpoint/2010/main" val="2255827823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176DA-86A7-FE5F-43CF-F958320FE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Meet the Team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Four engineers, one goal: make AI feel useful again.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Introduction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06040" cy="429768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diane-kon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1691640"/>
            <a:ext cx="1920240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840480"/>
            <a:ext cx="26060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F1A35"/>
                </a:solidFill>
                <a:latin typeface="Calibri"/>
              </a:rPr>
              <a:t>Tidiane Konaté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51960"/>
            <a:ext cx="24231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Architecture · Backend · Deployment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417320"/>
            <a:ext cx="2606040" cy="429768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idi-mohamed-s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452" y="1691640"/>
            <a:ext cx="192024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73552" y="3840480"/>
            <a:ext cx="26060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F1A35"/>
                </a:solidFill>
                <a:latin typeface="Calibri"/>
              </a:rPr>
              <a:t>Sidi Mohamed Sall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4251960"/>
            <a:ext cx="24231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Vision · Product · UX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4184" y="1417320"/>
            <a:ext cx="2606040" cy="429768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ahmed-essal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084" y="1691640"/>
            <a:ext cx="1920240" cy="1920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44184" y="3840480"/>
            <a:ext cx="26060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F1A35"/>
                </a:solidFill>
                <a:latin typeface="Calibri"/>
              </a:rPr>
              <a:t>Ahmed Essalem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4251960"/>
            <a:ext cx="24231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AI Engineer · LLM &amp; Multimodal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14816" y="1417320"/>
            <a:ext cx="2606040" cy="429768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aad-ibrahim-housse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7716" y="1691640"/>
            <a:ext cx="1920240" cy="1920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14816" y="3840480"/>
            <a:ext cx="26060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F1A35"/>
                </a:solidFill>
                <a:latin typeface="Calibri"/>
              </a:rPr>
              <a:t>Saad Ibrahim Houssein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4251960"/>
            <a:ext cx="24231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QA · Frontend · Testing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760720"/>
            <a:ext cx="6858000" cy="59436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Assist. Prof. Yücel TEKİ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1488" y="5824728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83280" y="5760720"/>
            <a:ext cx="60807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Advisor   ·   Assist. Prof. Dr. Yücel TEKİN   —   Computer Engineering · Faculty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2589804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Agenda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Four parts. About fifteen minutes. One demo.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Introduction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868680" cy="1097280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1417320"/>
            <a:ext cx="10241280" cy="109728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91640" y="1417320"/>
            <a:ext cx="7772400" cy="10972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F1A35"/>
                </a:solidFill>
                <a:latin typeface="Calibri"/>
              </a:rPr>
              <a:t>Introduction &amp; Vision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04A66"/>
                </a:solidFill>
                <a:latin typeface="Calibri"/>
              </a:rPr>
              <a:t>Why AstroBot — the problem, the goals, the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417320"/>
            <a:ext cx="2240280" cy="10972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1" i="0">
                <a:solidFill>
                  <a:srgbClr val="7B2CBF"/>
                </a:solidFill>
                <a:latin typeface="Calibri"/>
              </a:rPr>
              <a:t>PRESENTER</a:t>
            </a:r>
          </a:p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F1A35"/>
                </a:solidFill>
                <a:latin typeface="Calibri"/>
              </a:rPr>
              <a:t>Sidi Mohamed Sall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868680" cy="10972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2606040"/>
            <a:ext cx="10241280" cy="109728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91640" y="2606040"/>
            <a:ext cx="7772400" cy="10972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F1A35"/>
                </a:solidFill>
                <a:latin typeface="Calibri"/>
              </a:rPr>
              <a:t>Architecture &amp; Design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04A66"/>
                </a:solidFill>
                <a:latin typeface="Calibri"/>
              </a:rPr>
              <a:t>System model, tech stack, data and security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606040"/>
            <a:ext cx="2240280" cy="10972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1" i="0">
                <a:solidFill>
                  <a:srgbClr val="7B2CBF"/>
                </a:solidFill>
                <a:latin typeface="Calibri"/>
              </a:rPr>
              <a:t>PRESENTER</a:t>
            </a:r>
          </a:p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F1A35"/>
                </a:solidFill>
                <a:latin typeface="Calibri"/>
              </a:rPr>
              <a:t>Tidiane Konaté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94760"/>
            <a:ext cx="868680" cy="1097280"/>
          </a:xfrm>
          <a:prstGeom prst="roundRect">
            <a:avLst>
              <a:gd name="adj" fmla="val 50000"/>
            </a:avLst>
          </a:prstGeom>
          <a:solidFill>
            <a:srgbClr val="F9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2000" b="1" i="0">
                <a:solidFill>
                  <a:srgbClr val="0F1A35"/>
                </a:solidFill>
                <a:latin typeface="Calibri"/>
              </a:rP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3794760"/>
            <a:ext cx="10241280" cy="109728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91640" y="3794760"/>
            <a:ext cx="7772400" cy="10972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F1A35"/>
                </a:solidFill>
                <a:latin typeface="Calibri"/>
              </a:rPr>
              <a:t>Implementation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04A66"/>
                </a:solidFill>
                <a:latin typeface="Calibri"/>
              </a:rPr>
              <a:t>Chat, image gen, RAG, OCR, voice, productivity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794760"/>
            <a:ext cx="2240280" cy="10972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1" i="0">
                <a:solidFill>
                  <a:srgbClr val="7B2CBF"/>
                </a:solidFill>
                <a:latin typeface="Calibri"/>
              </a:rPr>
              <a:t>PRESENTER</a:t>
            </a:r>
          </a:p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F1A35"/>
                </a:solidFill>
                <a:latin typeface="Calibri"/>
              </a:rPr>
              <a:t>Ahmed Essalem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83480"/>
            <a:ext cx="868680" cy="109728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08760" y="4983480"/>
            <a:ext cx="10241280" cy="109728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91640" y="4983480"/>
            <a:ext cx="7772400" cy="10972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F1A35"/>
                </a:solidFill>
                <a:latin typeface="Calibri"/>
              </a:rPr>
              <a:t>Admin · Testing · Deployment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04A66"/>
                </a:solidFill>
                <a:latin typeface="Calibri"/>
              </a:rPr>
              <a:t>Dashboard, 66 tests, Docker stack, live MVP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4983480"/>
            <a:ext cx="2240280" cy="10972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1" i="0">
                <a:solidFill>
                  <a:srgbClr val="7B2CBF"/>
                </a:solidFill>
                <a:latin typeface="Calibri"/>
              </a:rPr>
              <a:t>PRESENTER</a:t>
            </a:r>
          </a:p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F1A35"/>
                </a:solidFill>
                <a:latin typeface="Calibri"/>
              </a:rPr>
              <a:t>Saad Ibrahim Houssein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515600" cy="2194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Introduction &amp; Vision</a:t>
            </a:r>
          </a:p>
          <a:p>
            <a:pPr algn="l">
              <a:spcAft>
                <a:spcPts val="400"/>
              </a:spcAft>
            </a:pPr>
            <a:r>
              <a:rPr sz="2200" b="0" i="1">
                <a:solidFill>
                  <a:srgbClr val="F9C94D"/>
                </a:solidFill>
                <a:latin typeface="Calibri"/>
              </a:rPr>
              <a:t>Presented by Sidi Mohamed Sall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Why AstroBot — the problem, the goals, the users.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The Problem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The AI assistant landscape is rich — and broken.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Sidi Mohamed Sall · Part 1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577840" cy="11887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09728" cy="11887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521208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A35"/>
                </a:solidFill>
                <a:latin typeface="Calibri"/>
              </a:rPr>
              <a:t>Fragmented tools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Chat, image gen, OCR, voice and document Q&amp;A live in different apps. Users waste time switching contexts.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577840" cy="11887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109728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527048"/>
            <a:ext cx="521208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A35"/>
                </a:solidFill>
                <a:latin typeface="Calibri"/>
              </a:rPr>
              <a:t>Paywalls everywhere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Most useful features are gated behind subscriptions or per-call fees, which puts students and small teams off-side.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5577840" cy="11887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788920"/>
            <a:ext cx="109728" cy="1188720"/>
          </a:xfrm>
          <a:prstGeom prst="rect">
            <a:avLst/>
          </a:prstGeom>
          <a:solidFill>
            <a:srgbClr val="F9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898648"/>
            <a:ext cx="521208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A35"/>
                </a:solidFill>
                <a:latin typeface="Calibri"/>
              </a:rPr>
              <a:t>Disposable conversations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Sessions are flat lists. No tags, no folders, no notebook context, no exportable record of what was discussed.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788920"/>
            <a:ext cx="5577840" cy="11887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2788920"/>
            <a:ext cx="109728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898648"/>
            <a:ext cx="521208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A35"/>
                </a:solidFill>
                <a:latin typeface="Calibri"/>
              </a:rPr>
              <a:t>Black-box workflows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Multi-step prompt pipelines are either rebuilt from scratch every time, or invisible inside closed agents.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Project Objectives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Build one place where AI feels integrated, not glued together.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Sidi Mohamed Sall · Part 1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581912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581912"/>
            <a:ext cx="274320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Unify modalities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04A66"/>
                </a:solidFill>
                <a:latin typeface="Calibri"/>
              </a:rPr>
              <a:t>Text, image, audio, OCR, document Q&amp;A and code highlighting in a single chat surface.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3712" y="1581912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581912"/>
            <a:ext cx="274320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Stay free for users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04A66"/>
                </a:solidFill>
                <a:latin typeface="Calibri"/>
              </a:rPr>
              <a:t>Combine free-tier APIs (HuggingFace, Mistral, Groq) and self-hosted models behind one wrapper.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1417320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21624" y="1581912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F9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1581912"/>
            <a:ext cx="274320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Make sessions persistent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04A66"/>
                </a:solidFill>
                <a:latin typeface="Calibri"/>
              </a:rPr>
              <a:t>Folders, tags, notebooks, exports — give every conversation a memory and a paper trail.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99232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5800" y="3163824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163824"/>
            <a:ext cx="274320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Show our work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04A66"/>
                </a:solidFill>
                <a:latin typeface="Calibri"/>
              </a:rPr>
              <a:t>Workflows are saved, replayable and visible — including the n8n graph that drives the agent.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999232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53712" y="3163824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163824"/>
            <a:ext cx="274320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Ship a real MVP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04A66"/>
                </a:solidFill>
                <a:latin typeface="Calibri"/>
              </a:rPr>
              <a:t>Live, dockerised, on a real server, with admin tooling and a 66-test suite — not a prototype.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38744" y="2999232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21624" y="3163824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3163824"/>
            <a:ext cx="274320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Ground on academic rigor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04A66"/>
                </a:solidFill>
                <a:latin typeface="Calibri"/>
              </a:rPr>
              <a:t>Defend every choice with measurements, diagrams and reproducible deployment scripts.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Users &amp; First Impression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Who we built this for — and what they see.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Sidi Mohamed Sall · Part 1 of 4</a:t>
            </a:r>
          </a:p>
        </p:txBody>
      </p:sp>
      <p:pic>
        <p:nvPicPr>
          <p:cNvPr id="7" name="Picture 6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766560" cy="4434840"/>
          </a:xfrm>
          <a:prstGeom prst="rect">
            <a:avLst/>
          </a:prstGeom>
          <a:ln w="19050">
            <a:solidFill>
              <a:srgbClr val="0F1A3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5943600"/>
            <a:ext cx="6766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404A66"/>
                </a:solidFill>
                <a:latin typeface="Calibri"/>
              </a:rPr>
              <a:t>Public landing page — central chat bar, animated robot mascot.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417320"/>
            <a:ext cx="4251960" cy="5120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Target users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Students prepping reports &amp; code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Developers exploring multimodal AI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Knowledge workers doing doc Q&amp;A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Anyone who wants one tab, not ten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141B2D"/>
                </a:solidFill>
                <a:latin typeface="Calibri"/>
              </a:rPr>
              <a:t> 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Scope of the MVP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Public + authenticated chat surface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Admin dashboard with real metrics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12+ AI-powered features (see Part 3)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Production deployment on a real VM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515600" cy="2194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Architecture &amp; Design</a:t>
            </a:r>
          </a:p>
          <a:p>
            <a:pPr algn="l">
              <a:spcAft>
                <a:spcPts val="400"/>
              </a:spcAft>
            </a:pPr>
            <a:r>
              <a:rPr sz="2200" b="0" i="1">
                <a:solidFill>
                  <a:srgbClr val="F9C94D"/>
                </a:solidFill>
                <a:latin typeface="Calibri"/>
              </a:rPr>
              <a:t>Presented by Tidiane Konaté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How the pieces fit together — services, data, security.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Context Diagram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The system in its environment — who talks to AstroBot and what flows in and 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Tidiane Konaté · Part 2 of 4</a:t>
            </a:r>
          </a:p>
        </p:txBody>
      </p:sp>
      <p:pic>
        <p:nvPicPr>
          <p:cNvPr id="7" name="Picture 6" descr="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406640" cy="5093208"/>
          </a:xfrm>
          <a:prstGeom prst="rect">
            <a:avLst/>
          </a:prstGeom>
          <a:ln w="15240">
            <a:solidFill>
              <a:srgbClr val="7B2CBF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955279" y="1371600"/>
            <a:ext cx="4023360" cy="5093208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59" y="1554480"/>
            <a:ext cx="3657600" cy="47274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What this shows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AstroBot sits in the middle. Around it are the people and external services it talks to.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1A35"/>
                </a:solidFill>
                <a:latin typeface="Calibri"/>
              </a:rPr>
              <a:t>Actors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End user — chats, uploads, listens to replies.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Administrator — runs the dashboard, manages accounts and audits activity.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1A35"/>
                </a:solidFill>
                <a:latin typeface="Calibri"/>
              </a:rPr>
              <a:t>External services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Mistral Cloud — the language model behind every reply.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HuggingFace — image generation, captioning, embeddings.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Groq Whisper — voice-to-text.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SerpAPI — web search tool for the AI agent.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F1A35"/>
                </a:solidFill>
                <a:latin typeface="Calibri"/>
              </a:rPr>
              <a:t>Boundary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Everything outside the central box is out of our control and reached over HTTPS only.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Use-Case Diagram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What end users and administrators can actually do with the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Tidiane Konaté · Part 2 of 4</a:t>
            </a:r>
          </a:p>
        </p:txBody>
      </p:sp>
      <p:pic>
        <p:nvPicPr>
          <p:cNvPr id="7" name="Picture 6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766560" cy="5074920"/>
          </a:xfrm>
          <a:prstGeom prst="rect">
            <a:avLst/>
          </a:prstGeom>
          <a:ln w="15240">
            <a:solidFill>
              <a:srgbClr val="06B6D4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315200" y="1371600"/>
            <a:ext cx="4663440" cy="50749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0" y="1554480"/>
            <a:ext cx="4297680" cy="4709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End user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Register &amp; log in (JWT)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Chat in seven personas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Generate or edit images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Ask questions over a PDF (RAG or notebook)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Speak a message (Whisper transcription)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Read an image (OCR + BLIP captioning)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Generate a PDF report on demand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Save, tag, search and export sessions</a:t>
            </a:r>
          </a:p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Compose multi-step workflow chains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6B6D4"/>
                </a:solidFill>
                <a:latin typeface="Calibri"/>
              </a:rPr>
              <a:t>Administrator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Log in to the admin dashboard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View KPIs and activity charts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Search, suspend, reactivate, delete or create users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Reset a user's password</a:t>
            </a:r>
          </a:p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Inspect any user's conversation history</a:t>
            </a:r>
          </a:p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404A66"/>
                </a:solidFill>
                <a:latin typeface="Calibri"/>
              </a:rPr>
              <a:t>Every use case here also goes through the JWT auth + role gate.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System Architecture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Three Docker services on a shared n8n private network.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Tidiane Konaté · Part 2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17320"/>
            <a:ext cx="2743200" cy="59436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417320"/>
            <a:ext cx="27432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User 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3520440" cy="150876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3520440" cy="164592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2"/>
            <a:ext cx="35204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0F1A35"/>
                </a:solidFill>
                <a:latin typeface="Calibri"/>
              </a:rPr>
              <a:t>Main App  </a:t>
            </a:r>
            <a:r>
              <a:rPr sz="1400" b="1" i="0">
                <a:solidFill>
                  <a:srgbClr val="7B2CBF"/>
                </a:solidFill>
                <a:latin typeface="Calibri"/>
              </a:rPr>
              <a:t>:3000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Public chat surface
Express · JWT · Helmet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331720"/>
            <a:ext cx="3520440" cy="150876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2331720"/>
            <a:ext cx="3520440" cy="1645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2587752"/>
            <a:ext cx="35204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0F1A35"/>
                </a:solidFill>
                <a:latin typeface="Calibri"/>
              </a:rPr>
              <a:t>Admin Dashboard  </a:t>
            </a:r>
            <a:r>
              <a:rPr sz="1400" b="1" i="0">
                <a:solidFill>
                  <a:srgbClr val="06B6D4"/>
                </a:solidFill>
                <a:latin typeface="Calibri"/>
              </a:rPr>
              <a:t>:7040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Stats · users · audit
Role-gated by JWT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331720"/>
            <a:ext cx="3520440" cy="150876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331720"/>
            <a:ext cx="3520440" cy="164592"/>
          </a:xfrm>
          <a:prstGeom prst="rect">
            <a:avLst/>
          </a:prstGeom>
          <a:solidFill>
            <a:srgbClr val="F9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92440" y="2587752"/>
            <a:ext cx="35204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0F1A35"/>
                </a:solidFill>
                <a:latin typeface="Calibri"/>
              </a:rPr>
              <a:t>n8n Orchestrator  </a:t>
            </a:r>
            <a:r>
              <a:rPr sz="1400" b="1" i="0">
                <a:solidFill>
                  <a:srgbClr val="F9C94D"/>
                </a:solidFill>
                <a:latin typeface="Calibri"/>
              </a:rPr>
              <a:t>:5678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Mistral agent · SerpAPI
Whisper · Think tool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3520440" cy="96012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352044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7B2CBF"/>
                </a:solidFill>
                <a:latin typeface="Calibri"/>
              </a:rPr>
              <a:t>PostgreSQL (shared)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users · convs · documents · embeddings · workflows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114800"/>
            <a:ext cx="3520440" cy="96012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4114800"/>
            <a:ext cx="352044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HuggingFace Router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FLUX.1-schnell · BLIP · MiniLM · fal-ai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4114800"/>
            <a:ext cx="3520440" cy="96012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4114800"/>
            <a:ext cx="352044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9C94D"/>
                </a:solidFill>
                <a:latin typeface="Calibri"/>
              </a:rPr>
              <a:t>External APIs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Mistral Cloud · Groq Whisper · SerpAPI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49240"/>
            <a:ext cx="112471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B2CBF"/>
                </a:solidFill>
                <a:latin typeface="Calibri"/>
              </a:rPr>
              <a:t>Why this shape: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Reuses an existing PostgreSQL container — no extra DB to operate.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All AI traffic exits through n8n, so prompts and tools can be tuned without redeploying.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Admin lives in its own service so a public-facing exploit can never reach the dashboard process.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Technology Stack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Boring, well-supported building blocks at every layer.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Tidiane Konaté · Part 2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788920" cy="44348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788920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2788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242316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Vanilla HTML / CSS / JavaScript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KaTeX  · highlight.js  · Mermaid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Cropper.js  · Chart.js (admin)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No framework — fast &amp; maintainable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417320"/>
            <a:ext cx="2788920" cy="44348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417320"/>
            <a:ext cx="27889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417320"/>
            <a:ext cx="2788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103120"/>
            <a:ext cx="242316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Node.js 18  ·  Express 4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JWT  ·  bcrypt 12 rounds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Helmet · express-rate-limit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pg, pdfkit, tesseract.js, pdf-parse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417320"/>
            <a:ext cx="2788920" cy="44348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1417320"/>
            <a:ext cx="2788920" cy="502920"/>
          </a:xfrm>
          <a:prstGeom prst="rect">
            <a:avLst/>
          </a:prstGeom>
          <a:solidFill>
            <a:srgbClr val="F9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417320"/>
            <a:ext cx="2788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AI /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03120"/>
            <a:ext cx="242316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Mistral medium-latest (via n8n agent)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HuggingFace FLUX.1-schnell · BLIP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MiniLM-L6-v2 embeddings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Groq Whisper-large-v3-turbo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417320"/>
            <a:ext cx="2788920" cy="44348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81160" y="1417320"/>
            <a:ext cx="2788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60" y="1417320"/>
            <a:ext cx="2788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103120"/>
            <a:ext cx="242316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Docker · Docker Compose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Shared PostgreSQL container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n8n network (existing)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41B2D"/>
                </a:solidFill>
                <a:latin typeface="Calibri"/>
              </a:rPr>
              <a:t>•  Python deploy.py (paramiko)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Database Schema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Idempotent migrations on every boot — no manual DBA 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Tidiane Konaté · Part 2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703320" cy="384048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370332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337560" cy="1600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04A66"/>
                </a:solidFill>
                <a:latin typeface="Consolas"/>
              </a:rPr>
              <a:t>id · email · password_hash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04A66"/>
                </a:solidFill>
                <a:latin typeface="Consolas"/>
              </a:rPr>
              <a:t>is_admin · status · avatar · last_login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417320"/>
            <a:ext cx="370332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0832" y="1417320"/>
            <a:ext cx="370332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</a:rPr>
              <a:t>conversations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920240"/>
            <a:ext cx="3337560" cy="1600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04A66"/>
                </a:solidFill>
                <a:latin typeface="Consolas"/>
              </a:rPr>
              <a:t>id · user_id · message · response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04A66"/>
                </a:solidFill>
                <a:latin typeface="Consolas"/>
              </a:rPr>
              <a:t>session_id · session_tag · image_url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04A66"/>
                </a:solidFill>
                <a:latin typeface="Consolas"/>
              </a:rPr>
              <a:t>pdf_url · pdf_filename · attachment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1417320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38744" y="1417320"/>
            <a:ext cx="3703320" cy="384048"/>
          </a:xfrm>
          <a:prstGeom prst="rect">
            <a:avLst/>
          </a:prstGeom>
          <a:solidFill>
            <a:srgbClr val="F9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1417320"/>
            <a:ext cx="370332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</a:rPr>
              <a:t>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1920240"/>
            <a:ext cx="3337560" cy="1600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04A66"/>
                </a:solidFill>
                <a:latin typeface="Consolas"/>
              </a:rPr>
              <a:t>id · user_id · name · mime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04A66"/>
                </a:solidFill>
                <a:latin typeface="Consolas"/>
              </a:rPr>
              <a:t>size · text_content · created_at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76472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776472"/>
            <a:ext cx="370332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776472"/>
            <a:ext cx="370332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</a:rPr>
              <a:t>document_chunks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79392"/>
            <a:ext cx="3337560" cy="1600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04A66"/>
                </a:solidFill>
                <a:latin typeface="Consolas"/>
              </a:rPr>
              <a:t>document_id · chunk_index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04A66"/>
                </a:solidFill>
                <a:latin typeface="Consolas"/>
              </a:rPr>
              <a:t>chunk_text · embedding (TEXT)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776472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70832" y="3776472"/>
            <a:ext cx="3703320" cy="384048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0832" y="3776472"/>
            <a:ext cx="370332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</a:rPr>
              <a:t>notebook_bindings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279392"/>
            <a:ext cx="3337560" cy="1600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04A66"/>
                </a:solidFill>
                <a:latin typeface="Consolas"/>
              </a:rPr>
              <a:t>user_id · session_id · document_id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04A66"/>
                </a:solidFill>
                <a:latin typeface="Consolas"/>
              </a:rPr>
              <a:t>mode (notebook | rag)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38744" y="3776472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38744" y="3776472"/>
            <a:ext cx="370332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38744" y="3776472"/>
            <a:ext cx="370332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</a:rPr>
              <a:t>workflows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4" y="4279392"/>
            <a:ext cx="3337560" cy="1600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04A66"/>
                </a:solidFill>
                <a:latin typeface="Consolas"/>
              </a:rPr>
              <a:t>id · user_id · name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04A66"/>
                </a:solidFill>
                <a:latin typeface="Consolas"/>
              </a:rPr>
              <a:t>steps (JSON)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n8n LLM Orchestration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A visual workflow we can tune without redeploying the backend.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Tidiane Konaté · Part 2 of 4</a:t>
            </a:r>
          </a:p>
        </p:txBody>
      </p:sp>
      <p:pic>
        <p:nvPicPr>
          <p:cNvPr id="7" name="Picture 6" descr="19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498079" cy="4846320"/>
          </a:xfrm>
          <a:prstGeom prst="rect">
            <a:avLst/>
          </a:prstGeom>
          <a:ln w="19050">
            <a:solidFill>
              <a:srgbClr val="0F1A3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229600" y="1417320"/>
            <a:ext cx="3520440" cy="4846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Pipeline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0F1A35"/>
                </a:solidFill>
                <a:latin typeface="Calibri"/>
              </a:rPr>
              <a:t>Webhook  </a:t>
            </a:r>
            <a:r>
              <a:rPr sz="1000" b="0" i="0">
                <a:solidFill>
                  <a:srgbClr val="404A66"/>
                </a:solidFill>
                <a:latin typeface="Calibri"/>
              </a:rPr>
              <a:t>—  POST receiver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0F1A35"/>
                </a:solidFill>
                <a:latin typeface="Calibri"/>
              </a:rPr>
              <a:t>Switch  </a:t>
            </a:r>
            <a:r>
              <a:rPr sz="1000" b="0" i="0">
                <a:solidFill>
                  <a:srgbClr val="404A66"/>
                </a:solidFill>
                <a:latin typeface="Calibri"/>
              </a:rPr>
              <a:t>—  audio vs text branch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0F1A35"/>
                </a:solidFill>
                <a:latin typeface="Calibri"/>
              </a:rPr>
              <a:t>Whisper  </a:t>
            </a:r>
            <a:r>
              <a:rPr sz="1000" b="0" i="0">
                <a:solidFill>
                  <a:srgbClr val="404A66"/>
                </a:solidFill>
                <a:latin typeface="Calibri"/>
              </a:rPr>
              <a:t>—  audio transcription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0F1A35"/>
                </a:solidFill>
                <a:latin typeface="Calibri"/>
              </a:rPr>
              <a:t>Payload  </a:t>
            </a:r>
            <a:r>
              <a:rPr sz="1000" b="0" i="0">
                <a:solidFill>
                  <a:srgbClr val="404A66"/>
                </a:solidFill>
                <a:latin typeface="Calibri"/>
              </a:rPr>
              <a:t>—  history + persona enrichment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0F1A35"/>
                </a:solidFill>
                <a:latin typeface="Calibri"/>
              </a:rPr>
              <a:t>AI Agent  </a:t>
            </a:r>
            <a:r>
              <a:rPr sz="1000" b="0" i="0">
                <a:solidFill>
                  <a:srgbClr val="404A66"/>
                </a:solidFill>
                <a:latin typeface="Calibri"/>
              </a:rPr>
              <a:t>—  Mistral medium · 20-iter cap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0F1A35"/>
                </a:solidFill>
                <a:latin typeface="Calibri"/>
              </a:rPr>
              <a:t>SerpAPI  </a:t>
            </a:r>
            <a:r>
              <a:rPr sz="1000" b="0" i="0">
                <a:solidFill>
                  <a:srgbClr val="404A66"/>
                </a:solidFill>
                <a:latin typeface="Calibri"/>
              </a:rPr>
              <a:t>—  live web search (max 2 calls)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0F1A35"/>
                </a:solidFill>
                <a:latin typeface="Calibri"/>
              </a:rPr>
              <a:t>Think  </a:t>
            </a:r>
            <a:r>
              <a:rPr sz="1000" b="0" i="0">
                <a:solidFill>
                  <a:srgbClr val="404A66"/>
                </a:solidFill>
                <a:latin typeface="Calibri"/>
              </a:rPr>
              <a:t>—  scratchpad reasoning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0F1A35"/>
                </a:solidFill>
                <a:latin typeface="Calibri"/>
              </a:rPr>
              <a:t>Edit Fields  </a:t>
            </a:r>
            <a:r>
              <a:rPr sz="1000" b="0" i="0">
                <a:solidFill>
                  <a:srgbClr val="404A66"/>
                </a:solidFill>
                <a:latin typeface="Calibri"/>
              </a:rPr>
              <a:t>—  extracts JSON `response`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0F1A35"/>
                </a:solidFill>
                <a:latin typeface="Calibri"/>
              </a:rPr>
              <a:t>Respond  </a:t>
            </a:r>
            <a:r>
              <a:rPr sz="1000" b="0" i="0">
                <a:solidFill>
                  <a:srgbClr val="404A66"/>
                </a:solidFill>
                <a:latin typeface="Calibri"/>
              </a:rPr>
              <a:t>—  back to backend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Security &amp; Resilience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Defence in depth — secrets never live in the repo.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Tidiane Konaté · Part 2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577840" cy="23317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45920"/>
            <a:ext cx="4480560" cy="1965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A35"/>
                </a:solidFill>
                <a:latin typeface="Calibri"/>
              </a:rPr>
              <a:t>Authentication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•  JWT (7-day expiry) signed with rotating secret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•  bcrypt password hashing (12 rounds)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•  Admin gate via `is_admin` JWT claim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577840" cy="23317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0" y="1645920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645920"/>
            <a:ext cx="4480560" cy="1965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A35"/>
                </a:solidFill>
                <a:latin typeface="Calibri"/>
              </a:rPr>
              <a:t>Network surface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•  Helmet HTTP security headers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•  CORS allow-list per origin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•  No cache on static assets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31920"/>
            <a:ext cx="5577840" cy="23317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4160520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F9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160520"/>
            <a:ext cx="4480560" cy="1965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A35"/>
                </a:solidFill>
                <a:latin typeface="Calibri"/>
              </a:rPr>
              <a:t>Rate limits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•  Auth  ·  20 / 15 min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•  Chat  ·  30 / min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•  Global · 200 / 15 min · Admin · 500 / 15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931920"/>
            <a:ext cx="5577840" cy="23317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83680" y="4160520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160520"/>
            <a:ext cx="4480560" cy="1965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A35"/>
                </a:solidFill>
                <a:latin typeface="Calibri"/>
              </a:rPr>
              <a:t>Operational hygiene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•  Secrets in .env files (gitignored)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•  File uploads capped 10 MB · 5 attachments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•  Idempotent migrations + admin re-seed at boot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515600" cy="2194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Implementation</a:t>
            </a:r>
          </a:p>
          <a:p>
            <a:pPr algn="l">
              <a:spcAft>
                <a:spcPts val="400"/>
              </a:spcAft>
            </a:pPr>
            <a:r>
              <a:rPr sz="2200" b="0" i="1">
                <a:solidFill>
                  <a:srgbClr val="F9C94D"/>
                </a:solidFill>
                <a:latin typeface="Calibri"/>
              </a:rPr>
              <a:t>Presented by Ahmed Essalem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The features — chat, multimedia, RAG, productivity.</a:t>
            </a: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Chat Experience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Streaming-style replies, multilingual, persona-aware.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Ahmed Essalem · Part 3 of 4</a:t>
            </a:r>
          </a:p>
        </p:txBody>
      </p:sp>
      <p:pic>
        <p:nvPicPr>
          <p:cNvPr id="7" name="Picture 6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178040" cy="4526280"/>
          </a:xfrm>
          <a:prstGeom prst="rect">
            <a:avLst/>
          </a:prstGeom>
          <a:ln w="19050">
            <a:solidFill>
              <a:srgbClr val="0F1A3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5989320"/>
            <a:ext cx="7178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404A66"/>
                </a:solidFill>
                <a:latin typeface="Calibri"/>
              </a:rPr>
              <a:t>Authenticated chat — welcome screen with quick-start prompts.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417320"/>
            <a:ext cx="3840480" cy="5029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Mistral medium via n8n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15-message context window per session, persona directives prepended.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Word-by-word reveal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Animated streaming UX without server-side streaming complexity.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Markdown · Math · Code · Diagrams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GitHub-flavored Markdown, KaTeX, highlight.js, Mermaid all live in the same bubble.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Multi-language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Auto-detect FR / EN / ES / DE / AR / ZH / JA / KO / RU / EL.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7 personas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Default · Formal · Casual · Teacher · Developer · Poet · Scientist.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Rich Content Rendering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A bot bubble is a tiny IDE — it renders what the prompt deserves.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Ahmed Essalem · Part 3 of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7178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404A66"/>
                </a:solidFill>
                <a:latin typeface="Calibri"/>
              </a:rPr>
              <a:t>Markdown rendering with structured lists, emphasis and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9424" y="2282019"/>
            <a:ext cx="8381307" cy="229396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Markdown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Lists, headings, emphasis, blockquotes, links — sanitised on output.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LaTeX math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$E=mc^2$ inline,  $$\int_0^\infty$$  block, KaTeX renders client-side.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Code highlighting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highlight.js detects 180+ languages; one-click copy buttons.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Mermaid diagrams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Flow charts, sequence diagrams, ER models, Gantt — straight from text.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AI Image Generation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Prompt → image, inline, in the same chat thread.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Ahmed Essalem · Part 3 of 4</a:t>
            </a:r>
          </a:p>
        </p:txBody>
      </p:sp>
      <p:pic>
        <p:nvPicPr>
          <p:cNvPr id="7" name="Picture 6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178040" cy="4526280"/>
          </a:xfrm>
          <a:prstGeom prst="rect">
            <a:avLst/>
          </a:prstGeom>
          <a:ln w="19050">
            <a:solidFill>
              <a:srgbClr val="0F1A3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5989320"/>
            <a:ext cx="7178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404A66"/>
                </a:solidFill>
                <a:latin typeface="Calibri"/>
              </a:rPr>
              <a:t>Image generation example — prompt-to-render in a single bubble.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417320"/>
            <a:ext cx="3840480" cy="5029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FLUX.1-schnell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HuggingFace router endpoint — 4-step diffusion model, free tier.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fal-ai fallback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Automatic retry path when HF rate-limits or times out.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Image-to-image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Style transfer (anime, oil painting, etc.) via FLUX dev img2img.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Inline rendering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Image is stored as data URL on the conversation row — survives reloads.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On-Demand PDF Reports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Heuristic detection: when the bot promises a PDF, we ship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Ahmed Essalem · Part 3 of 4</a:t>
            </a:r>
          </a:p>
        </p:txBody>
      </p:sp>
      <p:pic>
        <p:nvPicPr>
          <p:cNvPr id="7" name="Picture 6" descr="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7178040" cy="4526280"/>
          </a:xfrm>
          <a:prstGeom prst="rect">
            <a:avLst/>
          </a:prstGeom>
          <a:ln w="19050">
            <a:solidFill>
              <a:srgbClr val="0F1A3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5989320"/>
            <a:ext cx="7178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404A66"/>
                </a:solidFill>
                <a:latin typeface="Calibri"/>
              </a:rPr>
              <a:t>A generated PDF surfaced as a download card inside the chat.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417320"/>
            <a:ext cx="3840480" cy="5029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PDFKit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Server-side composition with title, body, sections and styled emphasis.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Heuristic action triggers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Backend re-parses the agent reply — if it acknowledges the report, we force `generate_pdf`.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Inline preview card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Filename, size badge, one-click download from inside the bubble.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Persisted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Stored as data URL in the conversation row for re-download anytime.</a:t>
            </a:r>
          </a:p>
        </p:txBody>
      </p:sp>
      <p:pic>
        <p:nvPicPr>
          <p:cNvPr id="10" name="Picture 6" descr="12.png">
            <a:extLst>
              <a:ext uri="{FF2B5EF4-FFF2-40B4-BE49-F238E27FC236}">
                <a16:creationId xmlns:a16="http://schemas.microsoft.com/office/drawing/2014/main" id="{82A8DD2D-CD03-BC53-7595-69302CCE8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63040"/>
            <a:ext cx="7178040" cy="4526280"/>
          </a:xfrm>
          <a:prstGeom prst="rect">
            <a:avLst/>
          </a:prstGeom>
          <a:ln w="19050">
            <a:solidFill>
              <a:srgbClr val="0F1A35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OCR &amp; Visual Understanding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Drop in any image — we'll read it AND describe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Ahmed Essalem · Part 3 of 4</a:t>
            </a:r>
          </a:p>
        </p:txBody>
      </p:sp>
      <p:pic>
        <p:nvPicPr>
          <p:cNvPr id="7" name="Picture 6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178040" cy="4526280"/>
          </a:xfrm>
          <a:prstGeom prst="rect">
            <a:avLst/>
          </a:prstGeom>
          <a:ln w="19050">
            <a:solidFill>
              <a:srgbClr val="0F1A3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5989320"/>
            <a:ext cx="7178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404A66"/>
                </a:solidFill>
                <a:latin typeface="Calibri"/>
              </a:rPr>
              <a:t>OCR + reasoning — the AI explains a Green Card lottery confirmation.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417320"/>
            <a:ext cx="3840480" cy="5029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Tesseract.js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On-server OCR · English + French · embedded as message context.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BLIP captioning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HuggingFace BLIP visualizes the image when there's no text.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Combined into context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Both signals are concatenated to the prompt before reaching Mistral.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Use cases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Forms, screenshots, error messages, scanned documents, ID cards.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Document Q&amp;A — RAG &amp; Notebook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Two retrieval modes, one chat surface.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Ahmed Essalem · Part 3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121408" cy="10058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2121408" cy="14630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09928"/>
            <a:ext cx="2121408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Upload PDF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404A66"/>
                </a:solidFill>
                <a:latin typeface="Calibri"/>
              </a:rPr>
              <a:t>pdf-parse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24328" y="1920240"/>
            <a:ext cx="109728" cy="182880"/>
          </a:xfrm>
          <a:prstGeom prst="rightArrow">
            <a:avLst/>
          </a:prstGeom>
          <a:solidFill>
            <a:srgbClr val="40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34056" y="1508760"/>
            <a:ext cx="2121408" cy="10058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34056" y="1508760"/>
            <a:ext cx="2121408" cy="1463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34056" y="1709928"/>
            <a:ext cx="2121408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Chunk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404A66"/>
                </a:solidFill>
                <a:latin typeface="Calibri"/>
              </a:rPr>
              <a:t>800 chars · 100 overlap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55464" y="1920240"/>
            <a:ext cx="109728" cy="182880"/>
          </a:xfrm>
          <a:prstGeom prst="rightArrow">
            <a:avLst/>
          </a:prstGeom>
          <a:solidFill>
            <a:srgbClr val="40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965192" y="1508760"/>
            <a:ext cx="2121408" cy="10058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65192" y="1508760"/>
            <a:ext cx="2121408" cy="146304"/>
          </a:xfrm>
          <a:prstGeom prst="rect">
            <a:avLst/>
          </a:prstGeom>
          <a:solidFill>
            <a:srgbClr val="F9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65192" y="1709928"/>
            <a:ext cx="2121408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Embed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404A66"/>
                </a:solidFill>
                <a:latin typeface="Calibri"/>
              </a:rPr>
              <a:t>MiniLM-L6-v2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86600" y="1920240"/>
            <a:ext cx="109728" cy="182880"/>
          </a:xfrm>
          <a:prstGeom prst="rightArrow">
            <a:avLst/>
          </a:prstGeom>
          <a:solidFill>
            <a:srgbClr val="40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96328" y="1508760"/>
            <a:ext cx="2121408" cy="10058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96328" y="1508760"/>
            <a:ext cx="2121408" cy="14630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96328" y="1709928"/>
            <a:ext cx="2121408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Retrieve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404A66"/>
                </a:solidFill>
                <a:latin typeface="Calibri"/>
              </a:rPr>
              <a:t>top-4 cosine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17736" y="1920240"/>
            <a:ext cx="109728" cy="182880"/>
          </a:xfrm>
          <a:prstGeom prst="rightArrow">
            <a:avLst/>
          </a:prstGeom>
          <a:solidFill>
            <a:srgbClr val="40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427464" y="1508760"/>
            <a:ext cx="2121408" cy="10058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27464" y="1508760"/>
            <a:ext cx="2121408" cy="14630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27464" y="1709928"/>
            <a:ext cx="2121408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Inject + Ask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404A66"/>
                </a:solidFill>
                <a:latin typeface="Calibri"/>
              </a:rPr>
              <a:t>Mistral via n8n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926080"/>
            <a:ext cx="5577840" cy="210312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3200400"/>
            <a:ext cx="5029200" cy="1645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7B2CBF"/>
                </a:solidFill>
                <a:latin typeface="Calibri"/>
              </a:rPr>
              <a:t>Notebook mode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First 6,000 characters of the bound document are *always* in context. Best for short PDFs or when you want the AI to discuss the whole document.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926080"/>
            <a:ext cx="5577840" cy="210312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3200400"/>
            <a:ext cx="5029200" cy="1645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6B6D4"/>
                </a:solidFill>
                <a:latin typeface="Calibri"/>
              </a:rPr>
              <a:t>RAG mode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On every question we embed the prompt with MiniLM and pull the top-4 most similar chunks (cosine similarity) into context. Scales to long documents.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349240"/>
            <a:ext cx="1124712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B2CBF"/>
                </a:solidFill>
                <a:latin typeface="Calibri"/>
              </a:rPr>
              <a:t>Why we kept both: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Notebook is dependable for thesis-sized PDFs (&lt;10 pages).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B2D"/>
                </a:solidFill>
                <a:latin typeface="Calibri"/>
              </a:rPr>
              <a:t>•  RAG is the only thing that makes 200-page books answerable in real time.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Productivity Tools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The pieces we missed in every other AI app.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Ahmed Essalem · Part 3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58191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581912"/>
            <a:ext cx="274320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Workflow chains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Save multi-step prompt sequences and replay them on a single click.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3712" y="158191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581912"/>
            <a:ext cx="274320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Folders &amp; tags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Color-coded session tags · search across full conversation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1417320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21624" y="158191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9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1581912"/>
            <a:ext cx="274320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Exports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Conversation as PDF · Markdown · JSON — three clicks 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99232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5800" y="3163824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163824"/>
            <a:ext cx="274320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YouTube summarizer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Paste a URL, get a transcript-grounded summary inside the chat.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999232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53712" y="3163824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163824"/>
            <a:ext cx="274320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Audio transcription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Browser recording → Groq Whisper-large-v3-turbo → typed reply.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38744" y="2999232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21624" y="3163824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3163824"/>
            <a:ext cx="274320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A35"/>
                </a:solidFill>
                <a:latin typeface="Calibri"/>
              </a:rPr>
              <a:t>Profile + cropper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A66"/>
                </a:solidFill>
                <a:latin typeface="Calibri"/>
              </a:rPr>
              <a:t>Built-in image cropper (rotate · zoom · flip) for avatars.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515600" cy="2194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Admin · Testing · Deployment</a:t>
            </a:r>
          </a:p>
          <a:p>
            <a:pPr algn="l">
              <a:spcAft>
                <a:spcPts val="400"/>
              </a:spcAft>
            </a:pPr>
            <a:r>
              <a:rPr sz="2200" b="0" i="1">
                <a:solidFill>
                  <a:srgbClr val="F9C94D"/>
                </a:solidFill>
                <a:latin typeface="Calibri"/>
              </a:rPr>
              <a:t>Presented by Saad Ibrahim Houssein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How we operate, audit and ship the product.</a:t>
            </a:r>
          </a:p>
        </p:txBody>
      </p:sp>
    </p:spTree>
  </p:cSld>
  <p:clrMapOvr>
    <a:masterClrMapping/>
  </p:clrMapOvr>
  <p:transition spd="med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Admin Dashboard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A second Express service — fully isolated from the public app.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Saad Ibrahim Houssein · Part 4 of 4</a:t>
            </a:r>
          </a:p>
        </p:txBody>
      </p:sp>
      <p:pic>
        <p:nvPicPr>
          <p:cNvPr id="7" name="Picture 6" descr="1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178040" cy="4526280"/>
          </a:xfrm>
          <a:prstGeom prst="rect">
            <a:avLst/>
          </a:prstGeom>
          <a:ln w="19050">
            <a:solidFill>
              <a:srgbClr val="0F1A3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5989320"/>
            <a:ext cx="7178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404A66"/>
                </a:solidFill>
                <a:latin typeface="Calibri"/>
              </a:rPr>
              <a:t>Admin dashboard — KPIs, daily message chart, status doughnut.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417320"/>
            <a:ext cx="3840480" cy="5029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Real-time KPIs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Users · messages · sessions · tokens · images · PDFs · documents.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Charts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Daily activity (30 days) and user-status doughnut, both Chart.js.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Recent signups &amp; top users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Quick triage panels visible above the fold.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Hard role gate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Login refuses any account that is not `is_admin = TRUE`.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User Management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Search, audit, suspend, reset, delete — without touching the database.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Saad Ibrahim Houssein · Part 4 of 4</a:t>
            </a:r>
          </a:p>
        </p:txBody>
      </p:sp>
      <p:pic>
        <p:nvPicPr>
          <p:cNvPr id="7" name="Picture 6" descr="1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178040" cy="4526280"/>
          </a:xfrm>
          <a:prstGeom prst="rect">
            <a:avLst/>
          </a:prstGeom>
          <a:ln w="19050">
            <a:solidFill>
              <a:srgbClr val="0F1A3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5989320"/>
            <a:ext cx="7178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404A66"/>
                </a:solidFill>
                <a:latin typeface="Calibri"/>
              </a:rPr>
              <a:t>User management table with status, role and recent activity columns.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417320"/>
            <a:ext cx="3840480" cy="5029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Searchable table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Status · role · sessions · messages · last login · joined date.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Lifecycle actions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Suspend / activate · reset password · delete user (self-delete blocked).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Account creation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Admins create regular or admin accounts directly from the UI.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Soft 403 responses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Non-admin tokens are rejected before any state is read.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Conversation Audit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Every conversation, grouped by session, on demand.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Saad Ibrahim Houssein · Part 4 of 4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920" y="1194955"/>
            <a:ext cx="7178040" cy="4227986"/>
          </a:xfrm>
          <a:prstGeom prst="rect">
            <a:avLst/>
          </a:prstGeom>
          <a:ln w="19050">
            <a:solidFill>
              <a:srgbClr val="0F1A3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5989320"/>
            <a:ext cx="7178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404A66"/>
                </a:solidFill>
                <a:latin typeface="Calibri"/>
              </a:rPr>
              <a:t>User detail — full conversation history grouped by session.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417320"/>
            <a:ext cx="3840480" cy="5029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Profile metadata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Email · joined · status · role · counts at a glance.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Sessions list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Each session previewed with its first message and tag.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Drill-down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Open any session to see the full message + response history.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Compliance-ready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Built so we can answer a 'what did this user ask?' request in seconds.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Testing — 66 Integration Tests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`python test_all.py` — single command, full suite, real server.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Saad Ibrahim Houssein · Part 4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577840" cy="7772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91440" cy="7772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52120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1" i="0">
                <a:solidFill>
                  <a:srgbClr val="0F1A35"/>
                </a:solidFill>
                <a:latin typeface="Calibri"/>
              </a:rPr>
              <a:t>Health    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Main + admin /health endpoints reachable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577840" cy="7772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91440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417320"/>
            <a:ext cx="52120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1" i="0">
                <a:solidFill>
                  <a:srgbClr val="0F1A35"/>
                </a:solidFill>
                <a:latin typeface="Calibri"/>
              </a:rPr>
              <a:t>Static assets    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HTML/CSS/JS served with no-cache headers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286000"/>
            <a:ext cx="5577840" cy="7772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286000"/>
            <a:ext cx="91440" cy="777240"/>
          </a:xfrm>
          <a:prstGeom prst="rect">
            <a:avLst/>
          </a:prstGeom>
          <a:solidFill>
            <a:srgbClr val="F9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86000"/>
            <a:ext cx="52120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1" i="0">
                <a:solidFill>
                  <a:srgbClr val="0F1A35"/>
                </a:solidFill>
                <a:latin typeface="Calibri"/>
              </a:rPr>
              <a:t>Auth    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Login · wrong password · missing token · role 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286000"/>
            <a:ext cx="5577840" cy="7772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2286000"/>
            <a:ext cx="9144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286000"/>
            <a:ext cx="52120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1" i="0">
                <a:solidFill>
                  <a:srgbClr val="0F1A35"/>
                </a:solidFill>
                <a:latin typeface="Calibri"/>
              </a:rPr>
              <a:t>Admin CRUD    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Stats · users list · create · update · suspend · reset · delete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54680"/>
            <a:ext cx="5577840" cy="7772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154680"/>
            <a:ext cx="91440" cy="7772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154680"/>
            <a:ext cx="52120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1" i="0">
                <a:solidFill>
                  <a:srgbClr val="0F1A35"/>
                </a:solidFill>
                <a:latin typeface="Calibri"/>
              </a:rPr>
              <a:t>Main app    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Profile · avatar set + clear · password change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154680"/>
            <a:ext cx="5577840" cy="7772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3154680"/>
            <a:ext cx="91440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154680"/>
            <a:ext cx="52120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1" i="0">
                <a:solidFill>
                  <a:srgbClr val="0F1A35"/>
                </a:solidFill>
                <a:latin typeface="Calibri"/>
              </a:rPr>
              <a:t>Chat flow    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Round-trip via n8n → Mistral → 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23360"/>
            <a:ext cx="5577840" cy="7772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023360"/>
            <a:ext cx="91440" cy="777240"/>
          </a:xfrm>
          <a:prstGeom prst="rect">
            <a:avLst/>
          </a:prstGeom>
          <a:solidFill>
            <a:srgbClr val="F9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52120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1" i="0">
                <a:solidFill>
                  <a:srgbClr val="0F1A35"/>
                </a:solidFill>
                <a:latin typeface="Calibri"/>
              </a:rPr>
              <a:t>Sessions    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Tags · history · session detail · session delete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023360"/>
            <a:ext cx="5577840" cy="7772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55080" y="4023360"/>
            <a:ext cx="9144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4023360"/>
            <a:ext cx="52120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1" i="0">
                <a:solidFill>
                  <a:srgbClr val="0F1A35"/>
                </a:solidFill>
                <a:latin typeface="Calibri"/>
              </a:rPr>
              <a:t>Exports    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PDF · Markdown · JSON exports validate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92040"/>
            <a:ext cx="5577840" cy="7772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4892040"/>
            <a:ext cx="91440" cy="7772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4892040"/>
            <a:ext cx="52120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1" i="0">
                <a:solidFill>
                  <a:srgbClr val="0F1A35"/>
                </a:solidFill>
                <a:latin typeface="Calibri"/>
              </a:rPr>
              <a:t>Features    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Documents · RAG bind/unbind · workflows CRUD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892040"/>
            <a:ext cx="5577840" cy="7772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55080" y="4892040"/>
            <a:ext cx="91440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400" y="4892040"/>
            <a:ext cx="52120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300" b="1" i="0">
                <a:solidFill>
                  <a:srgbClr val="0F1A35"/>
                </a:solidFill>
                <a:latin typeface="Calibri"/>
              </a:rPr>
              <a:t>Validation    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Bad inputs return clean 400/422 — never 500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Production Deployment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One command. Real VM. Real users.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Saad Ibrahim Houssein · Part 4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577840" cy="292608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7B2CBF"/>
                </a:solidFill>
                <a:latin typeface="Calibri"/>
              </a:rPr>
              <a:t>deploy.py — five remote commands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074920" cy="2331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7B2CBF"/>
                </a:solidFill>
                <a:latin typeface="Calibri"/>
              </a:rPr>
              <a:t>1.  </a:t>
            </a:r>
            <a:r>
              <a:rPr sz="1200" b="0" i="0">
                <a:solidFill>
                  <a:srgbClr val="141B2D"/>
                </a:solidFill>
                <a:latin typeface="Consolas"/>
              </a:rPr>
              <a:t>tar -cz frontend backend admin docker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7B2CBF"/>
                </a:solidFill>
                <a:latin typeface="Calibri"/>
              </a:rPr>
              <a:t>2.  </a:t>
            </a:r>
            <a:r>
              <a:rPr sz="1200" b="0" i="0">
                <a:solidFill>
                  <a:srgbClr val="141B2D"/>
                </a:solidFill>
                <a:latin typeface="Consolas"/>
              </a:rPr>
              <a:t>SFTP upload to /tmp on the VM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7B2CBF"/>
                </a:solidFill>
                <a:latin typeface="Calibri"/>
              </a:rPr>
              <a:t>3.  </a:t>
            </a:r>
            <a:r>
              <a:rPr sz="1200" b="0" i="0">
                <a:solidFill>
                  <a:srgbClr val="141B2D"/>
                </a:solidFill>
                <a:latin typeface="Consolas"/>
              </a:rPr>
              <a:t>ssh: tar -xz into ~/astrobot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7B2CBF"/>
                </a:solidFill>
                <a:latin typeface="Calibri"/>
              </a:rPr>
              <a:t>4.  </a:t>
            </a:r>
            <a:r>
              <a:rPr sz="1200" b="0" i="0">
                <a:solidFill>
                  <a:srgbClr val="141B2D"/>
                </a:solidFill>
                <a:latin typeface="Consolas"/>
              </a:rPr>
              <a:t>docker compose up -d --build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7B2CBF"/>
                </a:solidFill>
                <a:latin typeface="Calibri"/>
              </a:rPr>
              <a:t>5.  </a:t>
            </a:r>
            <a:r>
              <a:rPr sz="1200" b="0" i="0">
                <a:solidFill>
                  <a:srgbClr val="141B2D"/>
                </a:solidFill>
                <a:latin typeface="Consolas"/>
              </a:rPr>
              <a:t>healthcheck verifies both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486400" cy="292608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5074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9C94D"/>
                </a:solidFill>
                <a:latin typeface="Calibri"/>
              </a:rPr>
              <a:t>Live containers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5074920" cy="2331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astrobot:2.0.0</a:t>
            </a:r>
            <a:r>
              <a:rPr sz="1100" b="0" i="0">
                <a:solidFill>
                  <a:srgbClr val="06B6D4"/>
                </a:solidFill>
                <a:latin typeface="Consolas"/>
              </a:rPr>
              <a:t>   :3000  </a:t>
            </a:r>
            <a:r>
              <a:rPr sz="1100" b="0" i="1">
                <a:solidFill>
                  <a:srgbClr val="F6F7FB"/>
                </a:solidFill>
                <a:latin typeface="Calibri"/>
              </a:rPr>
              <a:t>main app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astrobot-admin:1.0.0</a:t>
            </a:r>
            <a:r>
              <a:rPr sz="1100" b="0" i="0">
                <a:solidFill>
                  <a:srgbClr val="06B6D4"/>
                </a:solidFill>
                <a:latin typeface="Consolas"/>
              </a:rPr>
              <a:t>   :7040  </a:t>
            </a:r>
            <a:r>
              <a:rPr sz="1100" b="0" i="1">
                <a:solidFill>
                  <a:srgbClr val="F6F7FB"/>
                </a:solidFill>
                <a:latin typeface="Calibri"/>
              </a:rPr>
              <a:t>admin dashboard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postgre_container</a:t>
            </a:r>
            <a:r>
              <a:rPr sz="1100" b="0" i="0">
                <a:solidFill>
                  <a:srgbClr val="06B6D4"/>
                </a:solidFill>
                <a:latin typeface="Consolas"/>
              </a:rPr>
              <a:t>   :5432  </a:t>
            </a:r>
            <a:r>
              <a:rPr sz="1100" b="0" i="1">
                <a:solidFill>
                  <a:srgbClr val="F6F7FB"/>
                </a:solidFill>
                <a:latin typeface="Calibri"/>
              </a:rPr>
              <a:t>shared (read/write own DB only)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n8n</a:t>
            </a:r>
            <a:r>
              <a:rPr sz="1100" b="0" i="0">
                <a:solidFill>
                  <a:srgbClr val="06B6D4"/>
                </a:solidFill>
                <a:latin typeface="Consolas"/>
              </a:rPr>
              <a:t>   :5678  </a:t>
            </a:r>
            <a:r>
              <a:rPr sz="1100" b="0" i="1">
                <a:solidFill>
                  <a:srgbClr val="F6F7FB"/>
                </a:solidFill>
                <a:latin typeface="Calibri"/>
              </a:rPr>
              <a:t>external · do not modify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572000"/>
            <a:ext cx="11247120" cy="1417320"/>
          </a:xfrm>
          <a:prstGeom prst="roundRect">
            <a:avLst>
              <a:gd name="adj" fmla="val 1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57200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9C94D"/>
                </a:solidFill>
                <a:latin typeface="Calibri"/>
              </a:rPr>
              <a:t>Try it right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74920"/>
            <a:ext cx="1124712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  Web app   ·   http://76.13.62.195:3000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  Admin     ·   http://76.13.62.195:7040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  Source    ·   github.com/tkonate788/astrobot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Lessons Learned &amp; What's Next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What we'd build differently — and where we're heading.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Saad Ibrahim Houssein · Part 4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577840" cy="484632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1663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7B2CBF"/>
                </a:solidFill>
                <a:latin typeface="Calibri"/>
              </a:rPr>
              <a:t>Lessons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166360" cy="4251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0F1A35"/>
                </a:solidFill>
                <a:latin typeface="Calibri"/>
              </a:rPr>
              <a:t>Cache-Control: no-store on iOS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Mobile Safari held onto stale CSS for hours; killed it at the express layer.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F1A35"/>
                </a:solidFill>
                <a:latin typeface="Calibri"/>
              </a:rPr>
              <a:t>Heuristic action triggers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LLMs occasionally agree to a PDF without flagging it — backend re-parses replies.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F1A35"/>
                </a:solidFill>
                <a:latin typeface="Calibri"/>
              </a:rPr>
              <a:t>Idempotent migrations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ALTER TABLE ... ADD COLUMN IF NOT EXISTS lets the app self-heal on every boot.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F1A35"/>
                </a:solidFill>
                <a:latin typeface="Calibri"/>
              </a:rPr>
              <a:t>Single deploy script
</a:t>
            </a:r>
            <a:r>
              <a:rPr sz="1100" b="0" i="0">
                <a:solidFill>
                  <a:srgbClr val="404A66"/>
                </a:solidFill>
                <a:latin typeface="Calibri"/>
              </a:rPr>
              <a:t>Beats `git pull` over SSH — no half-deployed state on partial failures.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486400" cy="484632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50749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9C94D"/>
                </a:solidFill>
                <a:latin typeface="Calibri"/>
              </a:rPr>
              <a:t>What's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5074920" cy="4251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Mobile-first PWA
</a:t>
            </a:r>
            <a:r>
              <a:rPr sz="1100" b="0" i="0">
                <a:solidFill>
                  <a:srgbClr val="F6F7FB"/>
                </a:solidFill>
                <a:latin typeface="Calibri"/>
              </a:rPr>
              <a:t>Service worker · push notifications · standalone app feel.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Voice mode
</a:t>
            </a:r>
            <a:r>
              <a:rPr sz="1100" b="0" i="0">
                <a:solidFill>
                  <a:srgbClr val="F6F7FB"/>
                </a:solidFill>
                <a:latin typeface="Calibri"/>
              </a:rPr>
              <a:t>Two-way audio loop — Whisper in, Web Speech out.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More languages
</a:t>
            </a:r>
            <a:r>
              <a:rPr sz="1100" b="0" i="0">
                <a:solidFill>
                  <a:srgbClr val="F6F7FB"/>
                </a:solidFill>
                <a:latin typeface="Calibri"/>
              </a:rPr>
              <a:t>Tesseract Arabic + Cyrillic; persona auto-tuning per language.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Self-hosted Whisper
</a:t>
            </a:r>
            <a:r>
              <a:rPr sz="1100" b="0" i="0">
                <a:solidFill>
                  <a:srgbClr val="F6F7FB"/>
                </a:solidFill>
                <a:latin typeface="Calibri"/>
              </a:rPr>
              <a:t>Already in n8n graph — extend it to all audio paths.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Plug-in marketplace
</a:t>
            </a:r>
            <a:r>
              <a:rPr sz="1100" b="0" i="0">
                <a:solidFill>
                  <a:srgbClr val="F6F7FB"/>
                </a:solidFill>
                <a:latin typeface="Calibri"/>
              </a:rPr>
              <a:t>Workflows shared and rated across users.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0" y="292608"/>
            <a:ext cx="146304" cy="50292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01168"/>
            <a:ext cx="86410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F1A35"/>
                </a:solidFill>
                <a:latin typeface="Calibri"/>
              </a:rPr>
              <a:t>Key Takeaways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04A66"/>
                </a:solidFill>
                <a:latin typeface="Calibri"/>
              </a:rPr>
              <a:t>What AstroBot proves we can deliver.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92240"/>
            <a:ext cx="11384280" cy="9525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AstroBot · Graduation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565392"/>
            <a:ext cx="4937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04A66"/>
                </a:solidFill>
                <a:latin typeface="Calibri"/>
              </a:rPr>
              <a:t>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788920" cy="205740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2788920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6400" b="1" i="0">
                <a:solidFill>
                  <a:srgbClr val="F9C94D"/>
                </a:solidFill>
                <a:latin typeface="Calibri"/>
              </a:rPr>
              <a:t>12+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3317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AI-powered features, all in one place — chat, image, OCR, RAG, voice, PDF,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788920" cy="205740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788920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6400" b="1" i="0">
                <a:solidFill>
                  <a:srgbClr val="F9C94D"/>
                </a:solidFill>
                <a:latin typeface="Calibri"/>
              </a:rPr>
              <a:t>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697480"/>
            <a:ext cx="23317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Integration tests covering auth, chat, admin and features; runnable in one command.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2788920" cy="205740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645920"/>
            <a:ext cx="2788920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6400" b="1" i="0">
                <a:solidFill>
                  <a:srgbClr val="F9C94D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23317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Dockerised services on a single shared network — reproducible from a fresh VM.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417320"/>
            <a:ext cx="2788920" cy="205740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1645920"/>
            <a:ext cx="2788920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6400" b="1" i="0">
                <a:solidFill>
                  <a:srgbClr val="F9C94D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697480"/>
            <a:ext cx="23317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Engineers, four roles, four months — no feature got dropped along the way.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49039"/>
            <a:ext cx="11247120" cy="19202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749039"/>
            <a:ext cx="11247120" cy="1920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 i="0">
                <a:solidFill>
                  <a:srgbClr val="0F1A35"/>
                </a:solidFill>
                <a:latin typeface="Calibri"/>
              </a:rPr>
              <a:t>AstroBot is not a demo — it is a working product.</a:t>
            </a:r>
          </a:p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404A66"/>
                </a:solidFill>
                <a:latin typeface="Calibri"/>
              </a:rPr>
              <a:t>Every feature shown today runs against the live VM at http://76.13.62.195:3000 — feel free to log in during Q&amp;A.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Horz">
          <a:fgClr>
            <a:schemeClr val="accent6"/>
          </a:fgClr>
          <a:bgClr>
            <a:schemeClr val="accent1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77240"/>
            <a:ext cx="1051560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Thank you for your attention!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10312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9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 i="0">
                <a:solidFill>
                  <a:srgbClr val="0F1A35"/>
                </a:solidFill>
                <a:latin typeface="Calibri"/>
              </a:rPr>
              <a:t>QUESTIONS WELCOME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697480"/>
            <a:ext cx="7132320" cy="2377440"/>
          </a:xfrm>
          <a:prstGeom prst="roundRect">
            <a:avLst>
              <a:gd name="adj" fmla="val 10000"/>
            </a:avLst>
          </a:prstGeom>
          <a:solidFill>
            <a:srgbClr val="0F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6583680" cy="2103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9C94D"/>
                </a:solidFill>
                <a:latin typeface="Calibri"/>
              </a:rPr>
              <a:t>Try AstroBot live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  Web app   ·   http://76.13.62.195:3000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  Admin     ·   http://76.13.62.195:7040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  GitHub    ·   github.com/tkonate788/astrobot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49240"/>
            <a:ext cx="1124712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Tidiane Konaté   ·   Sidi Mohamed Sall   ·   Ahmed Essalem   ·   Saad Ibrahim Houssein</a:t>
            </a:r>
          </a:p>
          <a:p>
            <a:pPr algn="ctr">
              <a:spcAft>
                <a:spcPts val="200"/>
              </a:spcAft>
            </a:pPr>
            <a:r>
              <a:rPr sz="1100" b="0" i="1">
                <a:solidFill>
                  <a:srgbClr val="F6F7FB"/>
                </a:solidFill>
                <a:latin typeface="Calibri"/>
              </a:rPr>
              <a:t>Advisor — Assist. Prof. Dr. Yücel TEKİN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F6F7FB"/>
                </a:solidFill>
                <a:latin typeface="Calibri"/>
              </a:rPr>
              <a:t>OSTIM Technical University   ·   May 18 – 21, 2026</a:t>
            </a:r>
          </a:p>
        </p:txBody>
      </p:sp>
    </p:spTree>
    <p:extLst>
      <p:ext uri="{BB962C8B-B14F-4D97-AF65-F5344CB8AC3E}">
        <p14:creationId xmlns:p14="http://schemas.microsoft.com/office/powerpoint/2010/main" val="2539543970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Özel Tasarı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Özel Tasarı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tema renkleri">
      <a:dk1>
        <a:srgbClr val="3E3E3E"/>
      </a:dk1>
      <a:lt1>
        <a:srgbClr val="FFFFFF"/>
      </a:lt1>
      <a:dk2>
        <a:srgbClr val="44546A"/>
      </a:dk2>
      <a:lt2>
        <a:srgbClr val="E7E6E6"/>
      </a:lt2>
      <a:accent1>
        <a:srgbClr val="A4284B"/>
      </a:accent1>
      <a:accent2>
        <a:srgbClr val="CB3665"/>
      </a:accent2>
      <a:accent3>
        <a:srgbClr val="BB8096"/>
      </a:accent3>
      <a:accent4>
        <a:srgbClr val="5F1D33"/>
      </a:accent4>
      <a:accent5>
        <a:srgbClr val="280D17"/>
      </a:accent5>
      <a:accent6>
        <a:srgbClr val="3E3E3E"/>
      </a:accent6>
      <a:hlink>
        <a:srgbClr val="3E3E3E"/>
      </a:hlink>
      <a:folHlink>
        <a:srgbClr val="A4284B"/>
      </a:folHlink>
    </a:clrScheme>
    <a:fontScheme name="Office Teması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AE6F2518-B084-4896-AF52-66CC2144AA26}"/>
    </a:ext>
  </a:extLst>
</a:theme>
</file>

<file path=ppt/theme/theme4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7588</TotalTime>
  <Words>3370</Words>
  <Application>Microsoft Office PowerPoint</Application>
  <PresentationFormat>Grand écran</PresentationFormat>
  <Paragraphs>451</Paragraphs>
  <Slides>32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32</vt:i4>
      </vt:variant>
    </vt:vector>
  </HeadingPairs>
  <TitlesOfParts>
    <vt:vector size="42" baseType="lpstr">
      <vt:lpstr>Gotham</vt:lpstr>
      <vt:lpstr>Gotham Medium</vt:lpstr>
      <vt:lpstr>Calibri Light</vt:lpstr>
      <vt:lpstr>Gotham Black</vt:lpstr>
      <vt:lpstr>Consolas</vt:lpstr>
      <vt:lpstr>Arial</vt:lpstr>
      <vt:lpstr>Calibri</vt:lpstr>
      <vt:lpstr>Özel Tasarım</vt:lpstr>
      <vt:lpstr>1_Özel Tasarım</vt:lpstr>
      <vt:lpstr>Office Teması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Tidiane Konaté</cp:lastModifiedBy>
  <cp:revision>40</cp:revision>
  <dcterms:created xsi:type="dcterms:W3CDTF">2024-06-22T11:55:02Z</dcterms:created>
  <dcterms:modified xsi:type="dcterms:W3CDTF">2026-05-20T03:56:12Z</dcterms:modified>
</cp:coreProperties>
</file>